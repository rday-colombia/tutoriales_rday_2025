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9" r:id="rId2"/>
    <p:sldId id="441" r:id="rId3"/>
    <p:sldId id="461" r:id="rId4"/>
    <p:sldId id="459" r:id="rId5"/>
    <p:sldId id="462" r:id="rId6"/>
    <p:sldId id="360" r:id="rId7"/>
    <p:sldId id="442" r:id="rId8"/>
    <p:sldId id="463" r:id="rId9"/>
    <p:sldId id="443" r:id="rId10"/>
    <p:sldId id="464" r:id="rId11"/>
    <p:sldId id="358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6FB76-20B9-44F4-9D57-E53723041278}" v="17" dt="2025-11-14T11:56:0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47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rnWay Eduación Empresarial" userId="90541022-f40e-4f22-81f2-7f7a6baa8062" providerId="ADAL" clId="{1EAC7831-0125-43E0-9741-2489975784B3}"/>
    <pc:docChg chg="custSel addSld delSld modSld sldOrd">
      <pc:chgData name="LearnWay Eduación Empresarial" userId="90541022-f40e-4f22-81f2-7f7a6baa8062" providerId="ADAL" clId="{1EAC7831-0125-43E0-9741-2489975784B3}" dt="2025-11-14T12:51:40.461" v="360" actId="20577"/>
      <pc:docMkLst>
        <pc:docMk/>
      </pc:docMkLst>
      <pc:sldChg chg="addSp modSp mod ord">
        <pc:chgData name="LearnWay Eduación Empresarial" userId="90541022-f40e-4f22-81f2-7f7a6baa8062" providerId="ADAL" clId="{1EAC7831-0125-43E0-9741-2489975784B3}" dt="2025-11-13T17:24:10.983" v="168" actId="1076"/>
        <pc:sldMkLst>
          <pc:docMk/>
          <pc:sldMk cId="1474785924" sldId="360"/>
        </pc:sldMkLst>
        <pc:spChg chg="mod">
          <ac:chgData name="LearnWay Eduación Empresarial" userId="90541022-f40e-4f22-81f2-7f7a6baa8062" providerId="ADAL" clId="{1EAC7831-0125-43E0-9741-2489975784B3}" dt="2025-11-13T17:24:04.439" v="165" actId="20577"/>
          <ac:spMkLst>
            <pc:docMk/>
            <pc:sldMk cId="1474785924" sldId="360"/>
            <ac:spMk id="4" creationId="{7484D1CB-EF7A-B496-5360-BF515105746F}"/>
          </ac:spMkLst>
        </pc:spChg>
        <pc:picChg chg="add mod">
          <ac:chgData name="LearnWay Eduación Empresarial" userId="90541022-f40e-4f22-81f2-7f7a6baa8062" providerId="ADAL" clId="{1EAC7831-0125-43E0-9741-2489975784B3}" dt="2025-11-13T17:24:10.983" v="168" actId="1076"/>
          <ac:picMkLst>
            <pc:docMk/>
            <pc:sldMk cId="1474785924" sldId="360"/>
            <ac:picMk id="3" creationId="{E06FED9B-27E1-3713-86A1-50D2729A3D0F}"/>
          </ac:picMkLst>
        </pc:picChg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701663943" sldId="365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2881722720" sldId="366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4137482553" sldId="367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4046784859" sldId="368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1365548913" sldId="369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972163900" sldId="370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2537712774" sldId="371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2266313274" sldId="372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3748919110" sldId="373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373993630" sldId="374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1159671910" sldId="397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3843098162" sldId="400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508565091" sldId="438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1413053223" sldId="439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3958194671" sldId="440"/>
        </pc:sldMkLst>
      </pc:sldChg>
      <pc:sldChg chg="modSp mod ord">
        <pc:chgData name="LearnWay Eduación Empresarial" userId="90541022-f40e-4f22-81f2-7f7a6baa8062" providerId="ADAL" clId="{1EAC7831-0125-43E0-9741-2489975784B3}" dt="2025-11-14T11:48:10.200" v="334" actId="6549"/>
        <pc:sldMkLst>
          <pc:docMk/>
          <pc:sldMk cId="3700434038" sldId="441"/>
        </pc:sldMkLst>
        <pc:spChg chg="mod">
          <ac:chgData name="LearnWay Eduación Empresarial" userId="90541022-f40e-4f22-81f2-7f7a6baa8062" providerId="ADAL" clId="{1EAC7831-0125-43E0-9741-2489975784B3}" dt="2025-11-13T17:06:36.194" v="30" actId="1076"/>
          <ac:spMkLst>
            <pc:docMk/>
            <pc:sldMk cId="3700434038" sldId="441"/>
            <ac:spMk id="3" creationId="{D11F40A8-F525-B1EB-CD43-99B2B7953E4C}"/>
          </ac:spMkLst>
        </pc:spChg>
        <pc:spChg chg="mod">
          <ac:chgData name="LearnWay Eduación Empresarial" userId="90541022-f40e-4f22-81f2-7f7a6baa8062" providerId="ADAL" clId="{1EAC7831-0125-43E0-9741-2489975784B3}" dt="2025-11-14T11:48:10.200" v="334" actId="6549"/>
          <ac:spMkLst>
            <pc:docMk/>
            <pc:sldMk cId="3700434038" sldId="441"/>
            <ac:spMk id="4" creationId="{6C7ABB87-A170-48FD-1F18-4B89E8EF7421}"/>
          </ac:spMkLst>
        </pc:spChg>
      </pc:sldChg>
      <pc:sldChg chg="modSp mod">
        <pc:chgData name="LearnWay Eduación Empresarial" userId="90541022-f40e-4f22-81f2-7f7a6baa8062" providerId="ADAL" clId="{1EAC7831-0125-43E0-9741-2489975784B3}" dt="2025-11-13T17:22:28.142" v="145" actId="20577"/>
        <pc:sldMkLst>
          <pc:docMk/>
          <pc:sldMk cId="3364321284" sldId="442"/>
        </pc:sldMkLst>
        <pc:spChg chg="mod">
          <ac:chgData name="LearnWay Eduación Empresarial" userId="90541022-f40e-4f22-81f2-7f7a6baa8062" providerId="ADAL" clId="{1EAC7831-0125-43E0-9741-2489975784B3}" dt="2025-11-13T17:22:28.142" v="145" actId="20577"/>
          <ac:spMkLst>
            <pc:docMk/>
            <pc:sldMk cId="3364321284" sldId="442"/>
            <ac:spMk id="3" creationId="{D11F40A8-F525-B1EB-CD43-99B2B7953E4C}"/>
          </ac:spMkLst>
        </pc:spChg>
        <pc:spChg chg="mod">
          <ac:chgData name="LearnWay Eduación Empresarial" userId="90541022-f40e-4f22-81f2-7f7a6baa8062" providerId="ADAL" clId="{1EAC7831-0125-43E0-9741-2489975784B3}" dt="2025-11-13T17:20:33.594" v="123" actId="1076"/>
          <ac:spMkLst>
            <pc:docMk/>
            <pc:sldMk cId="3364321284" sldId="442"/>
            <ac:spMk id="4" creationId="{6C7ABB87-A170-48FD-1F18-4B89E8EF7421}"/>
          </ac:spMkLst>
        </pc:spChg>
      </pc:sldChg>
      <pc:sldChg chg="delSp modSp mod">
        <pc:chgData name="LearnWay Eduación Empresarial" userId="90541022-f40e-4f22-81f2-7f7a6baa8062" providerId="ADAL" clId="{1EAC7831-0125-43E0-9741-2489975784B3}" dt="2025-11-14T11:47:40.494" v="333" actId="20577"/>
        <pc:sldMkLst>
          <pc:docMk/>
          <pc:sldMk cId="2675190427" sldId="443"/>
        </pc:sldMkLst>
        <pc:spChg chg="mod">
          <ac:chgData name="LearnWay Eduación Empresarial" userId="90541022-f40e-4f22-81f2-7f7a6baa8062" providerId="ADAL" clId="{1EAC7831-0125-43E0-9741-2489975784B3}" dt="2025-11-13T17:30:33.356" v="183" actId="20577"/>
          <ac:spMkLst>
            <pc:docMk/>
            <pc:sldMk cId="2675190427" sldId="443"/>
            <ac:spMk id="3" creationId="{D11F40A8-F525-B1EB-CD43-99B2B7953E4C}"/>
          </ac:spMkLst>
        </pc:spChg>
        <pc:spChg chg="mod">
          <ac:chgData name="LearnWay Eduación Empresarial" userId="90541022-f40e-4f22-81f2-7f7a6baa8062" providerId="ADAL" clId="{1EAC7831-0125-43E0-9741-2489975784B3}" dt="2025-11-14T11:47:40.494" v="333" actId="20577"/>
          <ac:spMkLst>
            <pc:docMk/>
            <pc:sldMk cId="2675190427" sldId="443"/>
            <ac:spMk id="4" creationId="{6C7ABB87-A170-48FD-1F18-4B89E8EF7421}"/>
          </ac:spMkLst>
        </pc:spChg>
        <pc:inkChg chg="del">
          <ac:chgData name="LearnWay Eduación Empresarial" userId="90541022-f40e-4f22-81f2-7f7a6baa8062" providerId="ADAL" clId="{1EAC7831-0125-43E0-9741-2489975784B3}" dt="2025-11-13T22:50:01.759" v="287" actId="478"/>
          <ac:inkMkLst>
            <pc:docMk/>
            <pc:sldMk cId="2675190427" sldId="443"/>
            <ac:inkMk id="5" creationId="{ED6D6AB9-08D1-DFEE-6C14-A1901FF8AFCC}"/>
          </ac:inkMkLst>
        </pc:inkChg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3996334664" sldId="457"/>
        </pc:sldMkLst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3268810655" sldId="458"/>
        </pc:sldMkLst>
      </pc:sldChg>
      <pc:sldChg chg="addSp delSp modSp mod ord">
        <pc:chgData name="LearnWay Eduación Empresarial" userId="90541022-f40e-4f22-81f2-7f7a6baa8062" providerId="ADAL" clId="{1EAC7831-0125-43E0-9741-2489975784B3}" dt="2025-11-14T12:51:34.306" v="359" actId="20577"/>
        <pc:sldMkLst>
          <pc:docMk/>
          <pc:sldMk cId="2498133058" sldId="459"/>
        </pc:sldMkLst>
        <pc:spChg chg="add mod">
          <ac:chgData name="LearnWay Eduación Empresarial" userId="90541022-f40e-4f22-81f2-7f7a6baa8062" providerId="ADAL" clId="{1EAC7831-0125-43E0-9741-2489975784B3}" dt="2025-11-13T22:48:39.607" v="283" actId="5793"/>
          <ac:spMkLst>
            <pc:docMk/>
            <pc:sldMk cId="2498133058" sldId="459"/>
            <ac:spMk id="2" creationId="{F0B1CF0C-6867-8253-46B3-70CDE22FBB48}"/>
          </ac:spMkLst>
        </pc:spChg>
        <pc:spChg chg="mod">
          <ac:chgData name="LearnWay Eduación Empresarial" userId="90541022-f40e-4f22-81f2-7f7a6baa8062" providerId="ADAL" clId="{1EAC7831-0125-43E0-9741-2489975784B3}" dt="2025-11-14T12:51:34.306" v="359" actId="20577"/>
          <ac:spMkLst>
            <pc:docMk/>
            <pc:sldMk cId="2498133058" sldId="459"/>
            <ac:spMk id="4" creationId="{E369390E-3B34-A672-099C-A4F6C0AB6DB1}"/>
          </ac:spMkLst>
        </pc:spChg>
        <pc:spChg chg="del">
          <ac:chgData name="LearnWay Eduación Empresarial" userId="90541022-f40e-4f22-81f2-7f7a6baa8062" providerId="ADAL" clId="{1EAC7831-0125-43E0-9741-2489975784B3}" dt="2025-11-13T17:08:39.281" v="67" actId="478"/>
          <ac:spMkLst>
            <pc:docMk/>
            <pc:sldMk cId="2498133058" sldId="459"/>
            <ac:spMk id="5" creationId="{02A1DCE0-A287-974C-BEB0-3CDF2DE621B3}"/>
          </ac:spMkLst>
        </pc:spChg>
        <pc:picChg chg="mod">
          <ac:chgData name="LearnWay Eduación Empresarial" userId="90541022-f40e-4f22-81f2-7f7a6baa8062" providerId="ADAL" clId="{1EAC7831-0125-43E0-9741-2489975784B3}" dt="2025-11-13T17:08:36.630" v="66" actId="1076"/>
          <ac:picMkLst>
            <pc:docMk/>
            <pc:sldMk cId="2498133058" sldId="459"/>
            <ac:picMk id="7" creationId="{22D53A89-F1D5-8239-6B33-3AF0031182A7}"/>
          </ac:picMkLst>
        </pc:picChg>
      </pc:sldChg>
      <pc:sldChg chg="del">
        <pc:chgData name="LearnWay Eduación Empresarial" userId="90541022-f40e-4f22-81f2-7f7a6baa8062" providerId="ADAL" clId="{1EAC7831-0125-43E0-9741-2489975784B3}" dt="2025-11-14T11:47:11.566" v="295" actId="2696"/>
        <pc:sldMkLst>
          <pc:docMk/>
          <pc:sldMk cId="2184014659" sldId="460"/>
        </pc:sldMkLst>
      </pc:sldChg>
      <pc:sldChg chg="modSp add mod ord">
        <pc:chgData name="LearnWay Eduación Empresarial" userId="90541022-f40e-4f22-81f2-7f7a6baa8062" providerId="ADAL" clId="{1EAC7831-0125-43E0-9741-2489975784B3}" dt="2025-11-13T17:09:19.554" v="75"/>
        <pc:sldMkLst>
          <pc:docMk/>
          <pc:sldMk cId="3296978917" sldId="461"/>
        </pc:sldMkLst>
        <pc:spChg chg="mod">
          <ac:chgData name="LearnWay Eduación Empresarial" userId="90541022-f40e-4f22-81f2-7f7a6baa8062" providerId="ADAL" clId="{1EAC7831-0125-43E0-9741-2489975784B3}" dt="2025-11-13T17:07:01.028" v="50" actId="1076"/>
          <ac:spMkLst>
            <pc:docMk/>
            <pc:sldMk cId="3296978917" sldId="461"/>
            <ac:spMk id="3" creationId="{AAB348AB-46F5-D5E2-864D-E62D8982191E}"/>
          </ac:spMkLst>
        </pc:spChg>
        <pc:spChg chg="mod">
          <ac:chgData name="LearnWay Eduación Empresarial" userId="90541022-f40e-4f22-81f2-7f7a6baa8062" providerId="ADAL" clId="{1EAC7831-0125-43E0-9741-2489975784B3}" dt="2025-11-13T17:07:28.430" v="53" actId="255"/>
          <ac:spMkLst>
            <pc:docMk/>
            <pc:sldMk cId="3296978917" sldId="461"/>
            <ac:spMk id="4" creationId="{F931C9D6-F136-023E-7638-B098A3F73D06}"/>
          </ac:spMkLst>
        </pc:spChg>
      </pc:sldChg>
      <pc:sldChg chg="modSp add mod">
        <pc:chgData name="LearnWay Eduación Empresarial" userId="90541022-f40e-4f22-81f2-7f7a6baa8062" providerId="ADAL" clId="{1EAC7831-0125-43E0-9741-2489975784B3}" dt="2025-11-14T12:51:40.461" v="360" actId="20577"/>
        <pc:sldMkLst>
          <pc:docMk/>
          <pc:sldMk cId="733554607" sldId="462"/>
        </pc:sldMkLst>
        <pc:spChg chg="mod">
          <ac:chgData name="LearnWay Eduación Empresarial" userId="90541022-f40e-4f22-81f2-7f7a6baa8062" providerId="ADAL" clId="{1EAC7831-0125-43E0-9741-2489975784B3}" dt="2025-11-13T22:49:26.351" v="286" actId="20577"/>
          <ac:spMkLst>
            <pc:docMk/>
            <pc:sldMk cId="733554607" sldId="462"/>
            <ac:spMk id="2" creationId="{05CEBA0A-264F-240B-A635-DAEE743C6396}"/>
          </ac:spMkLst>
        </pc:spChg>
        <pc:spChg chg="mod">
          <ac:chgData name="LearnWay Eduación Empresarial" userId="90541022-f40e-4f22-81f2-7f7a6baa8062" providerId="ADAL" clId="{1EAC7831-0125-43E0-9741-2489975784B3}" dt="2025-11-14T12:51:40.461" v="360" actId="20577"/>
          <ac:spMkLst>
            <pc:docMk/>
            <pc:sldMk cId="733554607" sldId="462"/>
            <ac:spMk id="4" creationId="{BE49C6F6-31FF-0BC6-FB0A-BD07BEEB1678}"/>
          </ac:spMkLst>
        </pc:spChg>
      </pc:sldChg>
      <pc:sldChg chg="modSp add mod">
        <pc:chgData name="LearnWay Eduación Empresarial" userId="90541022-f40e-4f22-81f2-7f7a6baa8062" providerId="ADAL" clId="{1EAC7831-0125-43E0-9741-2489975784B3}" dt="2025-11-13T17:22:44.552" v="148" actId="20577"/>
        <pc:sldMkLst>
          <pc:docMk/>
          <pc:sldMk cId="3285849219" sldId="463"/>
        </pc:sldMkLst>
        <pc:spChg chg="mod">
          <ac:chgData name="LearnWay Eduación Empresarial" userId="90541022-f40e-4f22-81f2-7f7a6baa8062" providerId="ADAL" clId="{1EAC7831-0125-43E0-9741-2489975784B3}" dt="2025-11-13T17:22:23.621" v="144" actId="20577"/>
          <ac:spMkLst>
            <pc:docMk/>
            <pc:sldMk cId="3285849219" sldId="463"/>
            <ac:spMk id="3" creationId="{7FEC20DA-CDF9-2F99-BD80-DA27B37F4319}"/>
          </ac:spMkLst>
        </pc:spChg>
        <pc:spChg chg="mod">
          <ac:chgData name="LearnWay Eduación Empresarial" userId="90541022-f40e-4f22-81f2-7f7a6baa8062" providerId="ADAL" clId="{1EAC7831-0125-43E0-9741-2489975784B3}" dt="2025-11-13T17:22:44.552" v="148" actId="20577"/>
          <ac:spMkLst>
            <pc:docMk/>
            <pc:sldMk cId="3285849219" sldId="463"/>
            <ac:spMk id="4" creationId="{C65FD9A1-08E5-FC95-B640-CEC43C78C192}"/>
          </ac:spMkLst>
        </pc:spChg>
      </pc:sldChg>
      <pc:sldChg chg="addSp delSp modSp add mod">
        <pc:chgData name="LearnWay Eduación Empresarial" userId="90541022-f40e-4f22-81f2-7f7a6baa8062" providerId="ADAL" clId="{1EAC7831-0125-43E0-9741-2489975784B3}" dt="2025-11-14T11:56:30.602" v="358" actId="122"/>
        <pc:sldMkLst>
          <pc:docMk/>
          <pc:sldMk cId="895411516" sldId="464"/>
        </pc:sldMkLst>
        <pc:spChg chg="mod">
          <ac:chgData name="LearnWay Eduación Empresarial" userId="90541022-f40e-4f22-81f2-7f7a6baa8062" providerId="ADAL" clId="{1EAC7831-0125-43E0-9741-2489975784B3}" dt="2025-11-14T11:55:11.758" v="350" actId="1076"/>
          <ac:spMkLst>
            <pc:docMk/>
            <pc:sldMk cId="895411516" sldId="464"/>
            <ac:spMk id="3" creationId="{B557D593-AEDA-8841-C2BC-6DFD7E23D941}"/>
          </ac:spMkLst>
        </pc:spChg>
        <pc:spChg chg="del">
          <ac:chgData name="LearnWay Eduación Empresarial" userId="90541022-f40e-4f22-81f2-7f7a6baa8062" providerId="ADAL" clId="{1EAC7831-0125-43E0-9741-2489975784B3}" dt="2025-11-14T11:54:46.234" v="336" actId="478"/>
          <ac:spMkLst>
            <pc:docMk/>
            <pc:sldMk cId="895411516" sldId="464"/>
            <ac:spMk id="4" creationId="{E34EAD74-BBF8-5475-F01A-8552DA51029F}"/>
          </ac:spMkLst>
        </pc:spChg>
        <pc:graphicFrameChg chg="add del mod modGraphic">
          <ac:chgData name="LearnWay Eduación Empresarial" userId="90541022-f40e-4f22-81f2-7f7a6baa8062" providerId="ADAL" clId="{1EAC7831-0125-43E0-9741-2489975784B3}" dt="2025-11-14T11:55:59.696" v="351" actId="21"/>
          <ac:graphicFrameMkLst>
            <pc:docMk/>
            <pc:sldMk cId="895411516" sldId="464"/>
            <ac:graphicFrameMk id="5" creationId="{D57C8C46-7525-0E7C-3307-9AEEBC265A75}"/>
          </ac:graphicFrameMkLst>
        </pc:graphicFrameChg>
        <pc:graphicFrameChg chg="add mod modGraphic">
          <ac:chgData name="LearnWay Eduación Empresarial" userId="90541022-f40e-4f22-81f2-7f7a6baa8062" providerId="ADAL" clId="{1EAC7831-0125-43E0-9741-2489975784B3}" dt="2025-11-14T11:56:30.602" v="358" actId="122"/>
          <ac:graphicFrameMkLst>
            <pc:docMk/>
            <pc:sldMk cId="895411516" sldId="464"/>
            <ac:graphicFrameMk id="6" creationId="{8C7F44CA-ABB4-E592-DB58-BBA790210C31}"/>
          </ac:graphicFrameMkLst>
        </pc:graphicFrameChg>
      </pc:sldChg>
      <pc:sldMasterChg chg="delSldLayout">
        <pc:chgData name="LearnWay Eduación Empresarial" userId="90541022-f40e-4f22-81f2-7f7a6baa8062" providerId="ADAL" clId="{1EAC7831-0125-43E0-9741-2489975784B3}" dt="2025-11-14T11:47:11.566" v="295" actId="2696"/>
        <pc:sldMasterMkLst>
          <pc:docMk/>
          <pc:sldMasterMk cId="4233474961" sldId="2147483660"/>
        </pc:sldMasterMkLst>
        <pc:sldLayoutChg chg="del">
          <pc:chgData name="LearnWay Eduación Empresarial" userId="90541022-f40e-4f22-81f2-7f7a6baa8062" providerId="ADAL" clId="{1EAC7831-0125-43E0-9741-2489975784B3}" dt="2025-11-14T11:47:11.566" v="295" actId="2696"/>
          <pc:sldLayoutMkLst>
            <pc:docMk/>
            <pc:sldMasterMk cId="4233474961" sldId="2147483660"/>
            <pc:sldLayoutMk cId="444289855" sldId="2147483663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23:25:3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72,'11'28'24,"2"-1"0,1-1 1,24 34-1,-32-52-19,-1-1 0,1-1 0,0 1 1,1-1-1,0 0 0,0-1 0,0 0 0,1 0 1,-1 0-1,1-1 0,0 0 0,0 0 0,1-1 1,-1 0-1,17 3 0,-11-4 8,-8 0-7,0 0-1,0-1 1,0 0-1,0-1 1,0 1-1,0-1 1,10-1-1,-14-1 5,0 0 0,1 0-1,-1-1 1,0 1-1,0-1 1,0 0 0,0 1-1,-1-1 1,4-6-1,9-14-170,-10 16 37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23:25:3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72,'11'28'24,"2"-1"0,1-1 1,24 34-1,-32-52-19,-1-1 0,1-1 0,0 1 1,1-1-1,0 0 0,0-1 0,0 0 0,1 0 1,-1 0-1,1-1 0,0 0 0,0 0 0,1-1 1,-1 0-1,17 3 0,-11-4 8,-8 0-7,0 0-1,0-1 1,0 0-1,0-1 1,0 1-1,0-1 1,10-1-1,-14-1 5,0 0 0,1 0-1,-1-1 1,0 1-1,0-1 1,0 0 0,0 1-1,-1-1 1,4-6-1,9-14-170,-10 16 37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99EB6C-330A-4556-AC8C-E5A501B46336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qsels.com/es/public-domain-photo-sgsc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409037" y="300726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chemeClr val="lt1"/>
              </a:buClr>
              <a:buSzPts val="5400"/>
            </a:pPr>
            <a:r>
              <a:rPr lang="es-E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Ciencia de Datos sin Fronteras: R + AWS para Analizar en la Nube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F252C44-8640-4B69-B8BA-DC8D8BF1C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11F40A8-F525-B1EB-CD43-99B2B7953E4C}"/>
              </a:ext>
            </a:extLst>
          </p:cNvPr>
          <p:cNvSpPr txBox="1"/>
          <p:nvPr/>
        </p:nvSpPr>
        <p:spPr>
          <a:xfrm>
            <a:off x="857950" y="2721206"/>
            <a:ext cx="28151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8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Objetivo</a:t>
            </a:r>
            <a:endParaRPr kumimoji="0" lang="es-CO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6C7ABB87-A170-48FD-1F18-4B89E8EF7421}"/>
              </a:ext>
            </a:extLst>
          </p:cNvPr>
          <p:cNvSpPr txBox="1">
            <a:spLocks/>
          </p:cNvSpPr>
          <p:nvPr/>
        </p:nvSpPr>
        <p:spPr>
          <a:xfrm>
            <a:off x="4668210" y="949752"/>
            <a:ext cx="7523790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s-ES" sz="4000" dirty="0">
                <a:solidFill>
                  <a:prstClr val="black"/>
                </a:solidFill>
              </a:rPr>
              <a:t>Demostrar cómo </a:t>
            </a:r>
            <a:r>
              <a:rPr lang="es-ES" sz="4000" dirty="0" err="1">
                <a:solidFill>
                  <a:prstClr val="black"/>
                </a:solidFill>
              </a:rPr>
              <a:t>JupyterLab</a:t>
            </a:r>
            <a:r>
              <a:rPr lang="es-ES" sz="4000" dirty="0">
                <a:solidFill>
                  <a:prstClr val="black"/>
                </a:solidFill>
              </a:rPr>
              <a:t> en AWS (</a:t>
            </a:r>
            <a:r>
              <a:rPr lang="es-ES" sz="4000" dirty="0" err="1">
                <a:solidFill>
                  <a:prstClr val="black"/>
                </a:solidFill>
              </a:rPr>
              <a:t>SageMaker</a:t>
            </a:r>
            <a:r>
              <a:rPr lang="es-ES" sz="4000" dirty="0">
                <a:solidFill>
                  <a:prstClr val="black"/>
                </a:solidFill>
              </a:rPr>
              <a:t> Studio) maneja un gran </a:t>
            </a:r>
            <a:r>
              <a:rPr lang="es-ES" sz="4000" dirty="0" err="1">
                <a:solidFill>
                  <a:prstClr val="black"/>
                </a:solidFill>
              </a:rPr>
              <a:t>dataset</a:t>
            </a:r>
            <a:r>
              <a:rPr lang="es-ES" sz="4000" dirty="0">
                <a:solidFill>
                  <a:prstClr val="black"/>
                </a:solidFill>
              </a:rPr>
              <a:t> usando R, destacando la escalabilidad y la integración con S3</a:t>
            </a:r>
            <a:endParaRPr kumimoji="0" lang="es-CO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43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D6BDF-D980-C3A4-5447-7E8A3E24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7783031-18D6-847C-30D8-FF0E44A84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71E1FC-6108-3272-6095-C9DF770CE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AB348AB-46F5-D5E2-864D-E62D8982191E}"/>
              </a:ext>
            </a:extLst>
          </p:cNvPr>
          <p:cNvSpPr txBox="1"/>
          <p:nvPr/>
        </p:nvSpPr>
        <p:spPr>
          <a:xfrm>
            <a:off x="513045" y="2881627"/>
            <a:ext cx="36070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8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Plataforma</a:t>
            </a:r>
            <a:endParaRPr kumimoji="0" lang="es-CO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F931C9D6-F136-023E-7638-B098A3F73D06}"/>
              </a:ext>
            </a:extLst>
          </p:cNvPr>
          <p:cNvSpPr txBox="1">
            <a:spLocks/>
          </p:cNvSpPr>
          <p:nvPr/>
        </p:nvSpPr>
        <p:spPr>
          <a:xfrm>
            <a:off x="4668210" y="949752"/>
            <a:ext cx="7523790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s-ES" sz="4400" b="1" dirty="0"/>
              <a:t>Amazon </a:t>
            </a:r>
            <a:r>
              <a:rPr lang="es-ES" sz="4400" b="1" dirty="0" err="1"/>
              <a:t>SageMaker</a:t>
            </a:r>
            <a:r>
              <a:rPr lang="es-ES" sz="4400" b="1" dirty="0"/>
              <a:t> Studio</a:t>
            </a:r>
            <a:r>
              <a:rPr lang="es-ES" sz="4400" dirty="0"/>
              <a:t>.</a:t>
            </a:r>
          </a:p>
          <a:p>
            <a:pPr marL="0" lvl="0" indent="0" algn="ctr">
              <a:buNone/>
              <a:defRPr/>
            </a:pPr>
            <a:r>
              <a:rPr lang="es-ES" sz="4400" dirty="0"/>
              <a:t> Es la versión "industrial" de </a:t>
            </a:r>
            <a:r>
              <a:rPr lang="es-ES" sz="4400" dirty="0" err="1"/>
              <a:t>JupyterLab</a:t>
            </a:r>
            <a:r>
              <a:rPr lang="es-ES" sz="4400" dirty="0"/>
              <a:t>, totalmente gestionada por AWS</a:t>
            </a:r>
            <a:endParaRPr kumimoji="0" lang="es-CO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97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2D53A89-F1D5-8239-6B33-3AF003118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828" y="368432"/>
            <a:ext cx="2876550" cy="3980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0E99717-E036-8DDC-6181-92102784D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677" y="6040155"/>
            <a:ext cx="4550417" cy="55259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69390E-3B34-A672-099C-A4F6C0AB6DB1}"/>
              </a:ext>
            </a:extLst>
          </p:cNvPr>
          <p:cNvSpPr txBox="1"/>
          <p:nvPr/>
        </p:nvSpPr>
        <p:spPr>
          <a:xfrm>
            <a:off x="8457256" y="2153679"/>
            <a:ext cx="26516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Por Qué</a:t>
            </a: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F0B1CF0C-6867-8253-46B3-70CDE22FBB48}"/>
              </a:ext>
            </a:extLst>
          </p:cNvPr>
          <p:cNvSpPr txBox="1">
            <a:spLocks/>
          </p:cNvSpPr>
          <p:nvPr/>
        </p:nvSpPr>
        <p:spPr>
          <a:xfrm>
            <a:off x="67322" y="872716"/>
            <a:ext cx="7544658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s-ES" sz="2900" b="1" dirty="0"/>
              <a:t>Escalabilidad bajo demanda:</a:t>
            </a:r>
            <a:r>
              <a:rPr lang="es-ES" sz="2900" dirty="0"/>
              <a:t> ¿Tu laptop no puede cargar 20GB de datos en memoria? </a:t>
            </a:r>
          </a:p>
          <a:p>
            <a:pPr marL="0" indent="0" fontAlgn="base">
              <a:buNone/>
            </a:pPr>
            <a:r>
              <a:rPr lang="es-ES" sz="2900" dirty="0"/>
              <a:t>Aquí puedes lanzar un notebook con </a:t>
            </a:r>
            <a:r>
              <a:rPr lang="es-ES" sz="2900" b="1" dirty="0"/>
              <a:t>24 </a:t>
            </a:r>
            <a:r>
              <a:rPr lang="es-ES" sz="2900" b="1" dirty="0" err="1"/>
              <a:t>CPUs</a:t>
            </a:r>
            <a:r>
              <a:rPr lang="es-ES" sz="2900" b="1" dirty="0"/>
              <a:t> y 256 GB de RAM</a:t>
            </a:r>
            <a:r>
              <a:rPr lang="es-ES" sz="2900" dirty="0"/>
              <a:t> con dos clics. </a:t>
            </a:r>
          </a:p>
          <a:p>
            <a:pPr marL="0" indent="0" fontAlgn="base">
              <a:buNone/>
            </a:pPr>
            <a:endParaRPr lang="es-ES" sz="2900" dirty="0"/>
          </a:p>
          <a:p>
            <a:pPr marL="0" indent="0" fontAlgn="base">
              <a:buNone/>
            </a:pPr>
            <a:r>
              <a:rPr lang="es-ES" sz="2900" dirty="0"/>
              <a:t>¿Necesitas una GPU A10G para Deep </a:t>
            </a:r>
            <a:r>
              <a:rPr lang="es-ES" sz="2900" dirty="0" err="1"/>
              <a:t>Learning</a:t>
            </a:r>
            <a:r>
              <a:rPr lang="es-ES" sz="2900" dirty="0"/>
              <a:t>? También puedes. </a:t>
            </a:r>
          </a:p>
          <a:p>
            <a:pPr fontAlgn="base"/>
            <a:r>
              <a:rPr lang="es-ES" sz="2900" b="1" dirty="0"/>
              <a:t>Cero Configuración:</a:t>
            </a:r>
            <a:r>
              <a:rPr lang="es-ES" sz="2900" dirty="0"/>
              <a:t> No hay que instalar R, Python, ni gestionar </a:t>
            </a:r>
            <a:r>
              <a:rPr lang="es-ES" sz="2900" dirty="0" err="1"/>
              <a:t>conda</a:t>
            </a:r>
            <a:r>
              <a:rPr lang="es-ES" sz="2900" dirty="0"/>
              <a:t> o </a:t>
            </a:r>
            <a:r>
              <a:rPr lang="es-ES" sz="2900" dirty="0" err="1"/>
              <a:t>ssh</a:t>
            </a:r>
            <a:r>
              <a:rPr lang="es-ES" sz="2900" dirty="0"/>
              <a:t>. AWS lo gestiona. El entorno está listo en minutos. </a:t>
            </a:r>
          </a:p>
          <a:p>
            <a:pPr fontAlgn="base"/>
            <a:endParaRPr lang="es-ES" sz="2900" dirty="0"/>
          </a:p>
        </p:txBody>
      </p:sp>
    </p:spTree>
    <p:extLst>
      <p:ext uri="{BB962C8B-B14F-4D97-AF65-F5344CB8AC3E}">
        <p14:creationId xmlns:p14="http://schemas.microsoft.com/office/powerpoint/2010/main" val="249813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2C5CA-8C9C-87AF-7214-3320DB05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7EA21CC-EFD9-07DC-CBBB-EDC4BEA2C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828" y="368432"/>
            <a:ext cx="2876550" cy="3980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39A6B14-D04C-F369-2854-88DD129EE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677" y="6040155"/>
            <a:ext cx="4550417" cy="55259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E49C6F6-31FF-0BC6-FB0A-BD07BEEB1678}"/>
              </a:ext>
            </a:extLst>
          </p:cNvPr>
          <p:cNvSpPr txBox="1"/>
          <p:nvPr/>
        </p:nvSpPr>
        <p:spPr>
          <a:xfrm>
            <a:off x="8457256" y="2153679"/>
            <a:ext cx="26516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Por </a:t>
            </a: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Qué</a:t>
            </a: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05CEBA0A-264F-240B-A635-DAEE743C6396}"/>
              </a:ext>
            </a:extLst>
          </p:cNvPr>
          <p:cNvSpPr txBox="1">
            <a:spLocks/>
          </p:cNvSpPr>
          <p:nvPr/>
        </p:nvSpPr>
        <p:spPr>
          <a:xfrm>
            <a:off x="-128010" y="847039"/>
            <a:ext cx="7523790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ES" sz="2900" b="1" dirty="0"/>
              <a:t>Integración Nativa con S3:</a:t>
            </a:r>
            <a:r>
              <a:rPr lang="es-ES" sz="2900" dirty="0"/>
              <a:t> El almacenamiento de datos (S3) está en la misma "red" de alta velocidad que la computación (</a:t>
            </a:r>
            <a:r>
              <a:rPr lang="es-ES" sz="2900" dirty="0" err="1"/>
              <a:t>SageMaker</a:t>
            </a:r>
            <a:r>
              <a:rPr lang="es-ES" sz="2900" dirty="0"/>
              <a:t>). No "descargamos" datos; los "leemos" directamente del data </a:t>
            </a:r>
            <a:r>
              <a:rPr lang="es-ES" sz="2900" dirty="0" err="1"/>
              <a:t>lake</a:t>
            </a:r>
            <a:r>
              <a:rPr lang="es-ES" sz="2900" dirty="0"/>
              <a:t>.</a:t>
            </a:r>
          </a:p>
          <a:p>
            <a:pPr fontAlgn="base"/>
            <a:endParaRPr lang="es-ES" sz="2900" dirty="0"/>
          </a:p>
          <a:p>
            <a:pPr fontAlgn="base"/>
            <a:r>
              <a:rPr lang="es-ES" sz="2900" b="1" dirty="0"/>
              <a:t>Colaboración y Seguridad:</a:t>
            </a:r>
            <a:r>
              <a:rPr lang="es-ES" sz="2900" dirty="0"/>
              <a:t> Todo vive en la cuenta de AWS, con permisos de IAM, acceso por Git, y la habilidad de compartir  </a:t>
            </a:r>
            <a:r>
              <a:rPr lang="es-ES" sz="2900" i="1" dirty="0" err="1"/>
              <a:t>snapshots</a:t>
            </a:r>
            <a:r>
              <a:rPr lang="es-ES" sz="2900" dirty="0"/>
              <a:t> de notebooks. </a:t>
            </a:r>
          </a:p>
        </p:txBody>
      </p:sp>
    </p:spTree>
    <p:extLst>
      <p:ext uri="{BB962C8B-B14F-4D97-AF65-F5344CB8AC3E}">
        <p14:creationId xmlns:p14="http://schemas.microsoft.com/office/powerpoint/2010/main" val="73355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7484D1CB-EF7A-B496-5360-BF515105746F}"/>
              </a:ext>
            </a:extLst>
          </p:cNvPr>
          <p:cNvSpPr txBox="1">
            <a:spLocks/>
          </p:cNvSpPr>
          <p:nvPr/>
        </p:nvSpPr>
        <p:spPr>
          <a:xfrm>
            <a:off x="585680" y="805203"/>
            <a:ext cx="11327398" cy="56169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Bef>
                <a:spcPts val="0"/>
              </a:spcBef>
              <a:buFont typeface="Arial" panose="020B0604020202020204" pitchFamily="34" charset="0"/>
              <a:buNone/>
            </a:pPr>
            <a:endParaRPr lang="es-CO" sz="32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Imagen 2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E06FED9B-27E1-3713-86A1-50D2729A3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636295" y="718064"/>
            <a:ext cx="86868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8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F252C44-8640-4B69-B8BA-DC8D8BF1C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11F40A8-F525-B1EB-CD43-99B2B7953E4C}"/>
              </a:ext>
            </a:extLst>
          </p:cNvPr>
          <p:cNvSpPr txBox="1"/>
          <p:nvPr/>
        </p:nvSpPr>
        <p:spPr>
          <a:xfrm>
            <a:off x="771712" y="2191109"/>
            <a:ext cx="299473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AWS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Academy</a:t>
            </a:r>
            <a:endParaRPr kumimoji="0" lang="es-CO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6C7ABB87-A170-48FD-1F18-4B89E8EF7421}"/>
              </a:ext>
            </a:extLst>
          </p:cNvPr>
          <p:cNvSpPr txBox="1">
            <a:spLocks/>
          </p:cNvSpPr>
          <p:nvPr/>
        </p:nvSpPr>
        <p:spPr>
          <a:xfrm>
            <a:off x="4734951" y="325639"/>
            <a:ext cx="7232762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  <a:defRPr/>
            </a:pPr>
            <a:r>
              <a:rPr lang="es-ES" sz="2800" dirty="0"/>
              <a:t>Es un programa educativo de </a:t>
            </a:r>
            <a:r>
              <a:rPr lang="es-ES" sz="2800" b="1" dirty="0"/>
              <a:t>Amazon Web </a:t>
            </a:r>
            <a:r>
              <a:rPr lang="es-ES" sz="2800" b="1" dirty="0" err="1"/>
              <a:t>Services</a:t>
            </a:r>
            <a:r>
              <a:rPr lang="es-ES" sz="2800" b="1" dirty="0"/>
              <a:t> (AWS)</a:t>
            </a:r>
            <a:r>
              <a:rPr lang="es-ES" sz="2800" dirty="0"/>
              <a:t> diseñado para que instituciones académicas integren en sus planes de estudio contenidos oficiales sobre </a:t>
            </a:r>
            <a:r>
              <a:rPr lang="es-ES" sz="2800" b="1" dirty="0"/>
              <a:t>computación en la nube</a:t>
            </a:r>
            <a:r>
              <a:rPr lang="es-ES" sz="2800" dirty="0"/>
              <a:t>. A través de laboratorios prácticos, recursos interactivos y cursos estructurados, AWS </a:t>
            </a:r>
            <a:r>
              <a:rPr lang="es-ES" sz="2800" dirty="0" err="1"/>
              <a:t>Academy</a:t>
            </a:r>
            <a:r>
              <a:rPr lang="es-ES" sz="2800" dirty="0"/>
              <a:t> permite que estudiantes y docentes adquieran habilidades técnicas reales en servicios como </a:t>
            </a:r>
            <a:r>
              <a:rPr lang="es-ES" sz="2800" b="1" dirty="0"/>
              <a:t>EC2, S3, Lambda, RDS y Machine </a:t>
            </a:r>
            <a:r>
              <a:rPr lang="es-ES" sz="2800" b="1" dirty="0" err="1"/>
              <a:t>Learning</a:t>
            </a:r>
            <a:r>
              <a:rPr lang="es-ES" sz="2800" dirty="0"/>
              <a:t>, preparando a los participantes para obtener certificaciones de AWS y mejorar su empleabilidad en el sector tecnológico.</a:t>
            </a:r>
            <a:endParaRPr kumimoji="0" lang="es-CO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0CE85B6-DF50-5C79-DD7F-6EE086949F08}"/>
                  </a:ext>
                </a:extLst>
              </p14:cNvPr>
              <p14:cNvContentPartPr/>
              <p14:nvPr/>
            </p14:nvContentPartPr>
            <p14:xfrm>
              <a:off x="4969718" y="2756017"/>
              <a:ext cx="115920" cy="846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0CE85B6-DF50-5C79-DD7F-6EE086949F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3598" y="2749897"/>
                <a:ext cx="128160" cy="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432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39551-7A95-A1E0-B92A-0FCBBE07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FD57686-DE5F-D134-8B8A-D682A0CA0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7B2ABC3-8836-A1B1-9305-5B44C8138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FEC20DA-CDF9-2F99-BD80-DA27B37F4319}"/>
              </a:ext>
            </a:extLst>
          </p:cNvPr>
          <p:cNvSpPr txBox="1"/>
          <p:nvPr/>
        </p:nvSpPr>
        <p:spPr>
          <a:xfrm>
            <a:off x="232302" y="2191109"/>
            <a:ext cx="407355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AWS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Skill</a:t>
            </a: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s-CO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Builder</a:t>
            </a:r>
            <a:r>
              <a:rPr kumimoji="0" lang="es-CO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C65FD9A1-08E5-FC95-B640-CEC43C78C192}"/>
              </a:ext>
            </a:extLst>
          </p:cNvPr>
          <p:cNvSpPr txBox="1">
            <a:spLocks/>
          </p:cNvSpPr>
          <p:nvPr/>
        </p:nvSpPr>
        <p:spPr>
          <a:xfrm>
            <a:off x="4734951" y="325639"/>
            <a:ext cx="7232762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  <a:defRPr/>
            </a:pPr>
            <a:r>
              <a:rPr lang="es-ES" sz="2800" dirty="0"/>
              <a:t>Es una </a:t>
            </a:r>
            <a:r>
              <a:rPr lang="es-ES" sz="2800" b="1" dirty="0"/>
              <a:t>plataforma de aprendizaje en línea de Amazon Web </a:t>
            </a:r>
            <a:r>
              <a:rPr lang="es-ES" sz="2800" b="1" dirty="0" err="1"/>
              <a:t>Services</a:t>
            </a:r>
            <a:r>
              <a:rPr lang="es-ES" sz="2800" b="1" dirty="0"/>
              <a:t> (AWS)</a:t>
            </a:r>
            <a:r>
              <a:rPr lang="es-ES" sz="2800" dirty="0"/>
              <a:t> que ofrece cursos, laboratorios prácticos y rutas de aprendizaje sobre computación en la nube. Está diseñada para ayudar a estudiantes, profesionales y empresas a </a:t>
            </a:r>
            <a:r>
              <a:rPr lang="es-ES" sz="2800" b="1" dirty="0"/>
              <a:t>desarrollar habilidades técnicas</a:t>
            </a:r>
            <a:r>
              <a:rPr lang="es-ES" sz="2800" dirty="0"/>
              <a:t> en los servicios de AWS y prepararse para </a:t>
            </a:r>
            <a:r>
              <a:rPr lang="es-ES" sz="2800" b="1" dirty="0"/>
              <a:t>certificaciones oficiales</a:t>
            </a:r>
            <a:r>
              <a:rPr lang="es-ES" sz="2800" dirty="0"/>
              <a:t>. Incluye contenidos interactivos, simulaciones, desafíos y evaluaciones que permiten aprender desde los fundamentos de la nube hasta temas avanzados como </a:t>
            </a:r>
            <a:r>
              <a:rPr lang="es-ES" sz="2800" b="1" dirty="0"/>
              <a:t>inteligencia artificial, seguridad, análisis de datos y arquitectura en la nube</a:t>
            </a: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A2394E5A-F933-AC2F-A357-C161C70722BB}"/>
                  </a:ext>
                </a:extLst>
              </p14:cNvPr>
              <p14:cNvContentPartPr/>
              <p14:nvPr/>
            </p14:nvContentPartPr>
            <p14:xfrm>
              <a:off x="4969718" y="2756017"/>
              <a:ext cx="115920" cy="846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A2394E5A-F933-AC2F-A357-C161C70722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3598" y="2749897"/>
                <a:ext cx="128160" cy="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84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F252C44-8640-4B69-B8BA-DC8D8BF1C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11F40A8-F525-B1EB-CD43-99B2B7953E4C}"/>
              </a:ext>
            </a:extLst>
          </p:cNvPr>
          <p:cNvSpPr txBox="1"/>
          <p:nvPr/>
        </p:nvSpPr>
        <p:spPr>
          <a:xfrm>
            <a:off x="224287" y="2191109"/>
            <a:ext cx="30155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8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DATASET</a:t>
            </a:r>
            <a:endParaRPr kumimoji="0" lang="es-CO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2 Marcador de contenido">
            <a:extLst>
              <a:ext uri="{FF2B5EF4-FFF2-40B4-BE49-F238E27FC236}">
                <a16:creationId xmlns:a16="http://schemas.microsoft.com/office/drawing/2014/main" id="{6C7ABB87-A170-48FD-1F18-4B89E8EF7421}"/>
              </a:ext>
            </a:extLst>
          </p:cNvPr>
          <p:cNvSpPr txBox="1">
            <a:spLocks/>
          </p:cNvSpPr>
          <p:nvPr/>
        </p:nvSpPr>
        <p:spPr>
          <a:xfrm>
            <a:off x="4604951" y="91500"/>
            <a:ext cx="7523790" cy="51125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Este conjunto de datos es un extracto de los registros de viajes de taxi de la Ciudad de Nueva York (NYC Taxi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Trips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con mas de 2800,000 registros.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es-ES" sz="2000" dirty="0"/>
              <a:t>Análisis de Series Temporales (Tiempo), Duración del Viaje: Calcular la duración exacta de cada viaje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Patrones de Viaje: Analizar la frecuencia de viajes por hora del día, día de la semana o mes para identificar las horas pico y los días de mayor demanda. </a:t>
            </a:r>
          </a:p>
          <a:p>
            <a:endParaRPr lang="es-ES" sz="2000" dirty="0"/>
          </a:p>
          <a:p>
            <a:r>
              <a:rPr lang="es-ES" sz="2000" dirty="0"/>
              <a:t>Análisis Geoespacial (Ubicación)Mapas de Calor de Demanda: Usar para mapear las zonas de la ciudad con más recogidas y destinos (esencialmente, dónde y cuándo la gente quiere ir). </a:t>
            </a:r>
          </a:p>
          <a:p>
            <a:endParaRPr lang="es-ES" sz="2000" dirty="0"/>
          </a:p>
          <a:p>
            <a:r>
              <a:rPr lang="es-ES" sz="2000" dirty="0"/>
              <a:t>Rutas Comunes: Identificar las rutas más frecuentes entre pares de zonas. </a:t>
            </a:r>
          </a:p>
          <a:p>
            <a:endParaRPr lang="es-ES" sz="2000" dirty="0"/>
          </a:p>
          <a:p>
            <a:r>
              <a:rPr lang="es-ES" sz="2000" dirty="0"/>
              <a:t>Factores de Propina: Investigar qué variables (distancia, duración, hora del día, etc.) influyen más en la cantidad de propina</a:t>
            </a:r>
          </a:p>
          <a:p>
            <a:endParaRPr lang="es-ES" sz="2000" dirty="0"/>
          </a:p>
          <a:p>
            <a:r>
              <a:rPr lang="es-ES" sz="2000" dirty="0"/>
              <a:t>4. </a:t>
            </a:r>
            <a:r>
              <a:rPr lang="es-ES" sz="2000" dirty="0" err="1"/>
              <a:t>Feature</a:t>
            </a:r>
            <a:r>
              <a:rPr lang="es-ES" sz="2000" dirty="0"/>
              <a:t> </a:t>
            </a:r>
            <a:r>
              <a:rPr lang="es-ES" sz="2000" dirty="0" err="1"/>
              <a:t>Engineering</a:t>
            </a:r>
            <a:r>
              <a:rPr lang="es-ES" sz="2000" dirty="0"/>
              <a:t> (Transformación de Datos) </a:t>
            </a:r>
          </a:p>
          <a:p>
            <a:endParaRPr lang="es-ES" sz="2000" dirty="0"/>
          </a:p>
          <a:p>
            <a:r>
              <a:rPr lang="es-ES" sz="2000" dirty="0"/>
              <a:t>Velocidad Promedio: Calcular la velocidad promedio del viaje (distancia / duración) para detectar posibles anomalías o variaciones de tráfico. </a:t>
            </a:r>
          </a:p>
          <a:p>
            <a:endParaRPr lang="es-ES" sz="2000" dirty="0"/>
          </a:p>
          <a:p>
            <a:r>
              <a:rPr lang="es-ES" sz="2000" dirty="0"/>
              <a:t>Día de la Semana/Mes: Extraer variables categóricas (como el día de la semana o la hora) de las columnas de fecha/hora.</a:t>
            </a:r>
            <a:endParaRPr kumimoji="0" lang="es-CO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s-CO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19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05313-F300-EC97-BAFA-4CEAAC7D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E46AB40-BA8D-CDD4-52BF-8B2D14308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87" y="281281"/>
            <a:ext cx="3016741" cy="41745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7BB9839-BA98-4B2F-4BEC-921B43D55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341" y="5979770"/>
            <a:ext cx="4550417" cy="5525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557D593-AEDA-8841-C2BC-6DFD7E23D941}"/>
              </a:ext>
            </a:extLst>
          </p:cNvPr>
          <p:cNvSpPr txBox="1"/>
          <p:nvPr/>
        </p:nvSpPr>
        <p:spPr>
          <a:xfrm>
            <a:off x="854243" y="2271320"/>
            <a:ext cx="27414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8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Familias</a:t>
            </a:r>
            <a:endParaRPr kumimoji="0" lang="es-CO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C7F44CA-ABB4-E592-DB58-BBA790210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029291"/>
              </p:ext>
            </p:extLst>
          </p:nvPr>
        </p:nvGraphicFramePr>
        <p:xfrm>
          <a:off x="5069305" y="1638298"/>
          <a:ext cx="6156159" cy="3702304"/>
        </p:xfrm>
        <a:graphic>
          <a:graphicData uri="http://schemas.openxmlformats.org/drawingml/2006/table">
            <a:tbl>
              <a:tblPr/>
              <a:tblGrid>
                <a:gridCol w="2052053">
                  <a:extLst>
                    <a:ext uri="{9D8B030D-6E8A-4147-A177-3AD203B41FA5}">
                      <a16:colId xmlns:a16="http://schemas.microsoft.com/office/drawing/2014/main" val="2449691265"/>
                    </a:ext>
                  </a:extLst>
                </a:gridCol>
                <a:gridCol w="2052053">
                  <a:extLst>
                    <a:ext uri="{9D8B030D-6E8A-4147-A177-3AD203B41FA5}">
                      <a16:colId xmlns:a16="http://schemas.microsoft.com/office/drawing/2014/main" val="2589052020"/>
                    </a:ext>
                  </a:extLst>
                </a:gridCol>
                <a:gridCol w="2052053">
                  <a:extLst>
                    <a:ext uri="{9D8B030D-6E8A-4147-A177-3AD203B41FA5}">
                      <a16:colId xmlns:a16="http://schemas.microsoft.com/office/drawing/2014/main" val="559600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 tu objetivo es... </a:t>
                      </a:r>
                      <a:endParaRPr lang="es-ES" sz="20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Elige la Familia... </a:t>
                      </a:r>
                      <a:endParaRPr lang="es-ES" sz="20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Instancia Recomendada para Empezar </a:t>
                      </a:r>
                      <a:endParaRPr lang="es-ES" sz="2000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983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>
                          <a:effectLst/>
                          <a:latin typeface="Calibri" panose="020F0502020204030204" pitchFamily="34" charset="0"/>
                        </a:rPr>
                        <a:t>Desarrollo y Prototipos</a:t>
                      </a:r>
                      <a:r>
                        <a:rPr lang="es-ES" sz="2000" b="0" i="0">
                          <a:effectLst/>
                          <a:latin typeface="Calibri" panose="020F0502020204030204" pitchFamily="34" charset="0"/>
                        </a:rPr>
                        <a:t> (bajo presupuesto, uso intermitente) </a:t>
                      </a:r>
                      <a:endParaRPr lang="es-ES" sz="2000" b="0" i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 dirty="0">
                          <a:effectLst/>
                          <a:latin typeface="Calibri" panose="020F0502020204030204" pitchFamily="34" charset="0"/>
                        </a:rPr>
                        <a:t>T3</a:t>
                      </a:r>
                      <a:r>
                        <a:rPr lang="es-ES" sz="2000" b="0" i="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>
                          <a:effectLst/>
                          <a:latin typeface="Calibri" panose="020F0502020204030204" pitchFamily="34" charset="0"/>
                        </a:rPr>
                        <a:t>ml.t3.medium</a:t>
                      </a:r>
                      <a:r>
                        <a:rPr lang="es-ES" sz="2000" b="0" i="0">
                          <a:effectLst/>
                          <a:latin typeface="Calibri" panose="020F0502020204030204" pitchFamily="34" charset="0"/>
                        </a:rPr>
                        <a:t> (Notebook) </a:t>
                      </a:r>
                      <a:endParaRPr lang="es-ES" sz="2000" b="0" i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931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>
                          <a:effectLst/>
                          <a:latin typeface="Calibri" panose="020F0502020204030204" pitchFamily="34" charset="0"/>
                        </a:rPr>
                        <a:t>Entrenamiento con Equilibrio CPU/RAM</a:t>
                      </a:r>
                      <a:r>
                        <a:rPr lang="es-ES" sz="2000" b="0" i="0">
                          <a:effectLst/>
                          <a:latin typeface="Calibri" panose="020F0502020204030204" pitchFamily="34" charset="0"/>
                        </a:rPr>
                        <a:t> (uso estable, producción) </a:t>
                      </a:r>
                      <a:endParaRPr lang="es-ES" sz="2000" b="0" i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>
                          <a:effectLst/>
                          <a:latin typeface="Calibri" panose="020F0502020204030204" pitchFamily="34" charset="0"/>
                        </a:rPr>
                        <a:t>M5</a:t>
                      </a:r>
                      <a:r>
                        <a:rPr lang="es-ES" sz="2000" b="0" i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s-ES" sz="2000" b="0" i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>
                          <a:effectLst/>
                          <a:latin typeface="Calibri" panose="020F0502020204030204" pitchFamily="34" charset="0"/>
                        </a:rPr>
                        <a:t>ml.m5.xlarge</a:t>
                      </a:r>
                      <a:r>
                        <a:rPr lang="es-ES" sz="2000" b="0" i="0">
                          <a:effectLst/>
                          <a:latin typeface="Calibri" panose="020F0502020204030204" pitchFamily="34" charset="0"/>
                        </a:rPr>
                        <a:t> (Entrenamiento/Despliegue) </a:t>
                      </a:r>
                      <a:endParaRPr lang="es-ES" sz="2000" b="0" i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711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>
                          <a:effectLst/>
                          <a:latin typeface="Calibri" panose="020F0502020204030204" pitchFamily="34" charset="0"/>
                        </a:rPr>
                        <a:t>Entrenamiento Intensivo en CPU</a:t>
                      </a:r>
                      <a:r>
                        <a:rPr lang="es-ES" sz="2000" b="0" i="0">
                          <a:effectLst/>
                          <a:latin typeface="Calibri" panose="020F0502020204030204" pitchFamily="34" charset="0"/>
                        </a:rPr>
                        <a:t> (alta velocidad de cálculo) </a:t>
                      </a:r>
                      <a:endParaRPr lang="es-ES" sz="2000" b="0" i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 dirty="0">
                          <a:effectLst/>
                          <a:latin typeface="Calibri" panose="020F0502020204030204" pitchFamily="34" charset="0"/>
                        </a:rPr>
                        <a:t>C5</a:t>
                      </a:r>
                      <a:r>
                        <a:rPr lang="es-ES" sz="2000" b="0" i="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52"/>
                        </a:lnSpc>
                        <a:buNone/>
                      </a:pPr>
                      <a:r>
                        <a:rPr lang="es-ES" sz="2000" b="1" i="0" dirty="0">
                          <a:effectLst/>
                          <a:latin typeface="Calibri" panose="020F0502020204030204" pitchFamily="34" charset="0"/>
                        </a:rPr>
                        <a:t>ml.c5.xlarge</a:t>
                      </a:r>
                      <a:r>
                        <a:rPr lang="es-ES" sz="2000" b="0" i="0" dirty="0">
                          <a:effectLst/>
                          <a:latin typeface="Calibri" panose="020F0502020204030204" pitchFamily="34" charset="0"/>
                        </a:rPr>
                        <a:t> (Entrenamiento)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marT="22860" marB="22860">
                    <a:lnL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50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41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2504</TotalTime>
  <Words>687</Words>
  <Application>Microsoft Office PowerPoint</Application>
  <PresentationFormat>Panorámica</PresentationFormat>
  <Paragraphs>56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Montserrat</vt:lpstr>
      <vt:lpstr>Tahoma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LearnWay Eduación Empresarial</cp:lastModifiedBy>
  <cp:revision>38</cp:revision>
  <dcterms:created xsi:type="dcterms:W3CDTF">2022-07-12T20:27:57Z</dcterms:created>
  <dcterms:modified xsi:type="dcterms:W3CDTF">2025-11-14T12:51:43Z</dcterms:modified>
</cp:coreProperties>
</file>