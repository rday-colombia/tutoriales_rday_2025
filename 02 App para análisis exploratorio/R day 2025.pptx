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Clear Sans" panose="020B0604020202020204" charset="0"/>
      <p:regular r:id="rId15"/>
    </p:embeddedFont>
    <p:embeddedFont>
      <p:font typeface="Clear Sans Bold" panose="020B0604020202020204" charset="0"/>
      <p:regular r:id="rId16"/>
    </p:embeddedFont>
    <p:embeddedFont>
      <p:font typeface="Clear Sans Medium" panose="020B0604020202020204" charset="0"/>
      <p:regular r:id="rId17"/>
    </p:embeddedFont>
    <p:embeddedFont>
      <p:font typeface="Cooper BT Light" panose="020B0604020202020204" charset="0"/>
      <p:regular r:id="rId18"/>
    </p:embeddedFont>
    <p:embeddedFont>
      <p:font typeface="Cooper BT Light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s://rstudio.github.io/shinyuieditor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7909" y="8308025"/>
            <a:ext cx="6001064" cy="950275"/>
            <a:chOff x="0" y="0"/>
            <a:chExt cx="1580527" cy="2502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80527" cy="250278"/>
            </a:xfrm>
            <a:custGeom>
              <a:avLst/>
              <a:gdLst/>
              <a:ahLst/>
              <a:cxnLst/>
              <a:rect l="l" t="t" r="r" b="b"/>
              <a:pathLst>
                <a:path w="1580527" h="250278">
                  <a:moveTo>
                    <a:pt x="125139" y="0"/>
                  </a:moveTo>
                  <a:lnTo>
                    <a:pt x="1455388" y="0"/>
                  </a:lnTo>
                  <a:cubicBezTo>
                    <a:pt x="1524501" y="0"/>
                    <a:pt x="1580527" y="56027"/>
                    <a:pt x="1580527" y="125139"/>
                  </a:cubicBezTo>
                  <a:lnTo>
                    <a:pt x="1580527" y="125139"/>
                  </a:lnTo>
                  <a:cubicBezTo>
                    <a:pt x="1580527" y="158328"/>
                    <a:pt x="1567343" y="190158"/>
                    <a:pt x="1543875" y="213626"/>
                  </a:cubicBezTo>
                  <a:cubicBezTo>
                    <a:pt x="1520407" y="237094"/>
                    <a:pt x="1488577" y="250278"/>
                    <a:pt x="1455388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82C2E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580527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308025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1259994" y="8594549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7"/>
                </a:lnTo>
                <a:lnTo>
                  <a:pt x="0" y="377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5400000">
            <a:off x="8533389" y="703173"/>
            <a:ext cx="11230144" cy="8861604"/>
          </a:xfrm>
          <a:custGeom>
            <a:avLst/>
            <a:gdLst/>
            <a:ahLst/>
            <a:cxnLst/>
            <a:rect l="l" t="t" r="r" b="b"/>
            <a:pathLst>
              <a:path w="11230144" h="8861604">
                <a:moveTo>
                  <a:pt x="0" y="0"/>
                </a:moveTo>
                <a:lnTo>
                  <a:pt x="11230144" y="0"/>
                </a:lnTo>
                <a:lnTo>
                  <a:pt x="11230144" y="8861604"/>
                </a:lnTo>
                <a:lnTo>
                  <a:pt x="0" y="8861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0088D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0456" y="8441850"/>
            <a:ext cx="535597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APP SHINY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861416" y="8911802"/>
            <a:ext cx="3247286" cy="1237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991" spc="-3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Luis Gabriel Gonzalez Herrera</a:t>
            </a:r>
          </a:p>
          <a:p>
            <a:pPr algn="l">
              <a:lnSpc>
                <a:spcPts val="1991"/>
              </a:lnSpc>
            </a:pPr>
            <a:r>
              <a:rPr lang="en-US" sz="1991" spc="-3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Luis Miguel Cohen Teherán</a:t>
            </a:r>
          </a:p>
          <a:p>
            <a:pPr algn="l">
              <a:lnSpc>
                <a:spcPts val="1991"/>
              </a:lnSpc>
            </a:pPr>
            <a:r>
              <a:rPr lang="en-US" sz="1991" spc="-3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Juan Manuel Bonilla</a:t>
            </a:r>
          </a:p>
          <a:p>
            <a:pPr algn="l">
              <a:lnSpc>
                <a:spcPts val="1991"/>
              </a:lnSpc>
            </a:pPr>
            <a:r>
              <a:rPr lang="en-US" sz="1991" spc="-3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Manuela Libano</a:t>
            </a:r>
          </a:p>
          <a:p>
            <a:pPr algn="l">
              <a:lnSpc>
                <a:spcPts val="1991"/>
              </a:lnSpc>
            </a:pPr>
            <a:r>
              <a:rPr lang="en-US" sz="1991" spc="-3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Oscar Yepes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2963863"/>
            <a:ext cx="9982837" cy="447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App para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análisis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exploratorio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: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prototipo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de software para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toma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de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decisiones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  <a:r>
              <a:rPr lang="en-US" sz="6999" spc="-209" dirty="0" err="1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producción</a:t>
            </a:r>
            <a:r>
              <a:rPr lang="en-US" sz="6999" spc="-209" dirty="0">
                <a:solidFill>
                  <a:srgbClr val="F8FB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animal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4835701" y="3590190"/>
            <a:ext cx="7258242" cy="7271463"/>
          </a:xfrm>
          <a:custGeom>
            <a:avLst/>
            <a:gdLst/>
            <a:ahLst/>
            <a:cxnLst/>
            <a:rect l="l" t="t" r="r" b="b"/>
            <a:pathLst>
              <a:path w="7258242" h="7271463">
                <a:moveTo>
                  <a:pt x="0" y="0"/>
                </a:moveTo>
                <a:lnTo>
                  <a:pt x="7258242" y="0"/>
                </a:lnTo>
                <a:lnTo>
                  <a:pt x="7258242" y="7271463"/>
                </a:lnTo>
                <a:lnTo>
                  <a:pt x="0" y="727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1865075" y="3596801"/>
            <a:ext cx="12268357" cy="950275"/>
            <a:chOff x="0" y="0"/>
            <a:chExt cx="3231172" cy="250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31172" cy="250278"/>
            </a:xfrm>
            <a:custGeom>
              <a:avLst/>
              <a:gdLst/>
              <a:ahLst/>
              <a:cxnLst/>
              <a:rect l="l" t="t" r="r" b="b"/>
              <a:pathLst>
                <a:path w="3231172" h="250278">
                  <a:moveTo>
                    <a:pt x="63105" y="0"/>
                  </a:moveTo>
                  <a:lnTo>
                    <a:pt x="3168067" y="0"/>
                  </a:lnTo>
                  <a:cubicBezTo>
                    <a:pt x="3202919" y="0"/>
                    <a:pt x="3231172" y="28253"/>
                    <a:pt x="3231172" y="63105"/>
                  </a:cubicBezTo>
                  <a:lnTo>
                    <a:pt x="3231172" y="187173"/>
                  </a:lnTo>
                  <a:cubicBezTo>
                    <a:pt x="3231172" y="222025"/>
                    <a:pt x="3202919" y="250278"/>
                    <a:pt x="3168067" y="250278"/>
                  </a:cubicBezTo>
                  <a:lnTo>
                    <a:pt x="63105" y="250278"/>
                  </a:lnTo>
                  <a:cubicBezTo>
                    <a:pt x="28253" y="250278"/>
                    <a:pt x="0" y="222025"/>
                    <a:pt x="0" y="187173"/>
                  </a:cubicBezTo>
                  <a:lnTo>
                    <a:pt x="0" y="63105"/>
                  </a:lnTo>
                  <a:cubicBezTo>
                    <a:pt x="0" y="28253"/>
                    <a:pt x="28253" y="0"/>
                    <a:pt x="63105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3231172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11131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3577" y="3596801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13"/>
          <p:cNvSpPr/>
          <p:nvPr/>
        </p:nvSpPr>
        <p:spPr>
          <a:xfrm>
            <a:off x="1004871" y="3883325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7"/>
                </a:lnTo>
                <a:lnTo>
                  <a:pt x="0" y="377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2246814" y="3843137"/>
            <a:ext cx="1188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ENTENDER QUÉ ES SHINY Y PARA QUÉ SE USA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2030" y="2078282"/>
            <a:ext cx="16599812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299">
                <a:solidFill>
                  <a:srgbClr val="11131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Objetivos de la charla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865075" y="4832826"/>
            <a:ext cx="12268357" cy="950275"/>
            <a:chOff x="0" y="0"/>
            <a:chExt cx="3231172" cy="2502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31172" cy="250278"/>
            </a:xfrm>
            <a:custGeom>
              <a:avLst/>
              <a:gdLst/>
              <a:ahLst/>
              <a:cxnLst/>
              <a:rect l="l" t="t" r="r" b="b"/>
              <a:pathLst>
                <a:path w="3231172" h="250278">
                  <a:moveTo>
                    <a:pt x="63105" y="0"/>
                  </a:moveTo>
                  <a:lnTo>
                    <a:pt x="3168067" y="0"/>
                  </a:lnTo>
                  <a:cubicBezTo>
                    <a:pt x="3202919" y="0"/>
                    <a:pt x="3231172" y="28253"/>
                    <a:pt x="3231172" y="63105"/>
                  </a:cubicBezTo>
                  <a:lnTo>
                    <a:pt x="3231172" y="187173"/>
                  </a:lnTo>
                  <a:cubicBezTo>
                    <a:pt x="3231172" y="222025"/>
                    <a:pt x="3202919" y="250278"/>
                    <a:pt x="3168067" y="250278"/>
                  </a:cubicBezTo>
                  <a:lnTo>
                    <a:pt x="63105" y="250278"/>
                  </a:lnTo>
                  <a:cubicBezTo>
                    <a:pt x="28253" y="250278"/>
                    <a:pt x="0" y="222025"/>
                    <a:pt x="0" y="187173"/>
                  </a:cubicBezTo>
                  <a:lnTo>
                    <a:pt x="0" y="63105"/>
                  </a:lnTo>
                  <a:cubicBezTo>
                    <a:pt x="0" y="28253"/>
                    <a:pt x="28253" y="0"/>
                    <a:pt x="63105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3231172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73577" y="4832826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6"/>
                </a:lnTo>
                <a:lnTo>
                  <a:pt x="0" y="95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Freeform 20"/>
          <p:cNvSpPr/>
          <p:nvPr/>
        </p:nvSpPr>
        <p:spPr>
          <a:xfrm>
            <a:off x="1004871" y="5119351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6"/>
                </a:lnTo>
                <a:lnTo>
                  <a:pt x="0" y="377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1" name="TextBox 21"/>
          <p:cNvSpPr txBox="1"/>
          <p:nvPr/>
        </p:nvSpPr>
        <p:spPr>
          <a:xfrm>
            <a:off x="2246814" y="5079163"/>
            <a:ext cx="1188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CONOCER LA ESTRUCTURA BÁSICA DE UN APLICATIVO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865075" y="6068852"/>
            <a:ext cx="12268357" cy="950275"/>
            <a:chOff x="0" y="0"/>
            <a:chExt cx="3231172" cy="2502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31172" cy="250278"/>
            </a:xfrm>
            <a:custGeom>
              <a:avLst/>
              <a:gdLst/>
              <a:ahLst/>
              <a:cxnLst/>
              <a:rect l="l" t="t" r="r" b="b"/>
              <a:pathLst>
                <a:path w="3231172" h="250278">
                  <a:moveTo>
                    <a:pt x="63105" y="0"/>
                  </a:moveTo>
                  <a:lnTo>
                    <a:pt x="3168067" y="0"/>
                  </a:lnTo>
                  <a:cubicBezTo>
                    <a:pt x="3202919" y="0"/>
                    <a:pt x="3231172" y="28253"/>
                    <a:pt x="3231172" y="63105"/>
                  </a:cubicBezTo>
                  <a:lnTo>
                    <a:pt x="3231172" y="187173"/>
                  </a:lnTo>
                  <a:cubicBezTo>
                    <a:pt x="3231172" y="222025"/>
                    <a:pt x="3202919" y="250278"/>
                    <a:pt x="3168067" y="250278"/>
                  </a:cubicBezTo>
                  <a:lnTo>
                    <a:pt x="63105" y="250278"/>
                  </a:lnTo>
                  <a:cubicBezTo>
                    <a:pt x="28253" y="250278"/>
                    <a:pt x="0" y="222025"/>
                    <a:pt x="0" y="187173"/>
                  </a:cubicBezTo>
                  <a:lnTo>
                    <a:pt x="0" y="63105"/>
                  </a:lnTo>
                  <a:cubicBezTo>
                    <a:pt x="0" y="28253"/>
                    <a:pt x="28253" y="0"/>
                    <a:pt x="63105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3231172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773577" y="6068852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6" name="Freeform 26"/>
          <p:cNvSpPr/>
          <p:nvPr/>
        </p:nvSpPr>
        <p:spPr>
          <a:xfrm>
            <a:off x="1004871" y="6355376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6"/>
                </a:lnTo>
                <a:lnTo>
                  <a:pt x="0" y="377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7" name="TextBox 27"/>
          <p:cNvSpPr txBox="1"/>
          <p:nvPr/>
        </p:nvSpPr>
        <p:spPr>
          <a:xfrm>
            <a:off x="2246814" y="6315188"/>
            <a:ext cx="1188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COMPRENDER EL MODELO REACTIVO DE SHINY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865075" y="7225922"/>
            <a:ext cx="12268357" cy="950275"/>
            <a:chOff x="0" y="0"/>
            <a:chExt cx="3231172" cy="25027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231172" cy="250278"/>
            </a:xfrm>
            <a:custGeom>
              <a:avLst/>
              <a:gdLst/>
              <a:ahLst/>
              <a:cxnLst/>
              <a:rect l="l" t="t" r="r" b="b"/>
              <a:pathLst>
                <a:path w="3231172" h="250278">
                  <a:moveTo>
                    <a:pt x="63105" y="0"/>
                  </a:moveTo>
                  <a:lnTo>
                    <a:pt x="3168067" y="0"/>
                  </a:lnTo>
                  <a:cubicBezTo>
                    <a:pt x="3202919" y="0"/>
                    <a:pt x="3231172" y="28253"/>
                    <a:pt x="3231172" y="63105"/>
                  </a:cubicBezTo>
                  <a:lnTo>
                    <a:pt x="3231172" y="187173"/>
                  </a:lnTo>
                  <a:cubicBezTo>
                    <a:pt x="3231172" y="222025"/>
                    <a:pt x="3202919" y="250278"/>
                    <a:pt x="3168067" y="250278"/>
                  </a:cubicBezTo>
                  <a:lnTo>
                    <a:pt x="63105" y="250278"/>
                  </a:lnTo>
                  <a:cubicBezTo>
                    <a:pt x="28253" y="250278"/>
                    <a:pt x="0" y="222025"/>
                    <a:pt x="0" y="187173"/>
                  </a:cubicBezTo>
                  <a:lnTo>
                    <a:pt x="0" y="63105"/>
                  </a:lnTo>
                  <a:cubicBezTo>
                    <a:pt x="0" y="28253"/>
                    <a:pt x="28253" y="0"/>
                    <a:pt x="63105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9050"/>
              <a:ext cx="3231172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773577" y="7225922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2" name="Freeform 32"/>
          <p:cNvSpPr/>
          <p:nvPr/>
        </p:nvSpPr>
        <p:spPr>
          <a:xfrm>
            <a:off x="1004871" y="7512446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7"/>
                </a:lnTo>
                <a:lnTo>
                  <a:pt x="0" y="377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3" name="TextBox 33"/>
          <p:cNvSpPr txBox="1"/>
          <p:nvPr/>
        </p:nvSpPr>
        <p:spPr>
          <a:xfrm>
            <a:off x="2246814" y="7472258"/>
            <a:ext cx="1188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VER LOS PASOS PARA CREAR UNA APP DESDE CERO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865075" y="8462858"/>
            <a:ext cx="12268357" cy="950275"/>
            <a:chOff x="0" y="0"/>
            <a:chExt cx="3231172" cy="25027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231172" cy="250278"/>
            </a:xfrm>
            <a:custGeom>
              <a:avLst/>
              <a:gdLst/>
              <a:ahLst/>
              <a:cxnLst/>
              <a:rect l="l" t="t" r="r" b="b"/>
              <a:pathLst>
                <a:path w="3231172" h="250278">
                  <a:moveTo>
                    <a:pt x="63105" y="0"/>
                  </a:moveTo>
                  <a:lnTo>
                    <a:pt x="3168067" y="0"/>
                  </a:lnTo>
                  <a:cubicBezTo>
                    <a:pt x="3202919" y="0"/>
                    <a:pt x="3231172" y="28253"/>
                    <a:pt x="3231172" y="63105"/>
                  </a:cubicBezTo>
                  <a:lnTo>
                    <a:pt x="3231172" y="187173"/>
                  </a:lnTo>
                  <a:cubicBezTo>
                    <a:pt x="3231172" y="222025"/>
                    <a:pt x="3202919" y="250278"/>
                    <a:pt x="3168067" y="250278"/>
                  </a:cubicBezTo>
                  <a:lnTo>
                    <a:pt x="63105" y="250278"/>
                  </a:lnTo>
                  <a:cubicBezTo>
                    <a:pt x="28253" y="250278"/>
                    <a:pt x="0" y="222025"/>
                    <a:pt x="0" y="187173"/>
                  </a:cubicBezTo>
                  <a:lnTo>
                    <a:pt x="0" y="63105"/>
                  </a:lnTo>
                  <a:cubicBezTo>
                    <a:pt x="0" y="28253"/>
                    <a:pt x="28253" y="0"/>
                    <a:pt x="63105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9050"/>
              <a:ext cx="3231172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773577" y="8462858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6"/>
                </a:lnTo>
                <a:lnTo>
                  <a:pt x="0" y="95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8" name="Freeform 38"/>
          <p:cNvSpPr/>
          <p:nvPr/>
        </p:nvSpPr>
        <p:spPr>
          <a:xfrm>
            <a:off x="1004871" y="8749383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6"/>
                </a:lnTo>
                <a:lnTo>
                  <a:pt x="0" y="377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9" name="TextBox 39"/>
          <p:cNvSpPr txBox="1"/>
          <p:nvPr/>
        </p:nvSpPr>
        <p:spPr>
          <a:xfrm>
            <a:off x="2246814" y="8709195"/>
            <a:ext cx="1188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IDENTIFICAR BUENAS PRÁCTICAS Y FORMAS DE DESPLIEGUE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u="sng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6679" y="2171742"/>
            <a:ext cx="6210177" cy="7086558"/>
            <a:chOff x="0" y="0"/>
            <a:chExt cx="1153650" cy="13164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3650" cy="1316453"/>
            </a:xfrm>
            <a:custGeom>
              <a:avLst/>
              <a:gdLst/>
              <a:ahLst/>
              <a:cxnLst/>
              <a:rect l="l" t="t" r="r" b="b"/>
              <a:pathLst>
                <a:path w="1153650" h="1316453">
                  <a:moveTo>
                    <a:pt x="62333" y="0"/>
                  </a:moveTo>
                  <a:lnTo>
                    <a:pt x="1091318" y="0"/>
                  </a:lnTo>
                  <a:cubicBezTo>
                    <a:pt x="1107849" y="0"/>
                    <a:pt x="1123704" y="6567"/>
                    <a:pt x="1135394" y="18257"/>
                  </a:cubicBezTo>
                  <a:cubicBezTo>
                    <a:pt x="1147083" y="29946"/>
                    <a:pt x="1153650" y="45801"/>
                    <a:pt x="1153650" y="62333"/>
                  </a:cubicBezTo>
                  <a:lnTo>
                    <a:pt x="1153650" y="1254121"/>
                  </a:lnTo>
                  <a:cubicBezTo>
                    <a:pt x="1153650" y="1270653"/>
                    <a:pt x="1147083" y="1286507"/>
                    <a:pt x="1135394" y="1298197"/>
                  </a:cubicBezTo>
                  <a:cubicBezTo>
                    <a:pt x="1123704" y="1309886"/>
                    <a:pt x="1107849" y="1316453"/>
                    <a:pt x="1091318" y="1316453"/>
                  </a:cubicBezTo>
                  <a:lnTo>
                    <a:pt x="62333" y="1316453"/>
                  </a:lnTo>
                  <a:cubicBezTo>
                    <a:pt x="45801" y="1316453"/>
                    <a:pt x="29946" y="1309886"/>
                    <a:pt x="18257" y="1298197"/>
                  </a:cubicBezTo>
                  <a:cubicBezTo>
                    <a:pt x="6567" y="1286507"/>
                    <a:pt x="0" y="1270653"/>
                    <a:pt x="0" y="1254121"/>
                  </a:cubicBezTo>
                  <a:lnTo>
                    <a:pt x="0" y="62333"/>
                  </a:lnTo>
                  <a:cubicBezTo>
                    <a:pt x="0" y="45801"/>
                    <a:pt x="6567" y="29946"/>
                    <a:pt x="18257" y="18257"/>
                  </a:cubicBezTo>
                  <a:cubicBezTo>
                    <a:pt x="29946" y="6567"/>
                    <a:pt x="45801" y="0"/>
                    <a:pt x="62333" y="0"/>
                  </a:cubicBezTo>
                  <a:close/>
                </a:path>
              </a:pathLst>
            </a:custGeom>
            <a:blipFill>
              <a:blip r:embed="rId2"/>
              <a:stretch>
                <a:fillRect t="-581" b="-581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" name="Freeform 4"/>
          <p:cNvSpPr/>
          <p:nvPr/>
        </p:nvSpPr>
        <p:spPr>
          <a:xfrm rot="5400000">
            <a:off x="14835701" y="3590190"/>
            <a:ext cx="7258242" cy="7271463"/>
          </a:xfrm>
          <a:custGeom>
            <a:avLst/>
            <a:gdLst/>
            <a:ahLst/>
            <a:cxnLst/>
            <a:rect l="l" t="t" r="r" b="b"/>
            <a:pathLst>
              <a:path w="7258242" h="7271463">
                <a:moveTo>
                  <a:pt x="0" y="0"/>
                </a:moveTo>
                <a:lnTo>
                  <a:pt x="7258242" y="0"/>
                </a:lnTo>
                <a:lnTo>
                  <a:pt x="7258242" y="7271463"/>
                </a:lnTo>
                <a:lnTo>
                  <a:pt x="0" y="7271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grpSp>
        <p:nvGrpSpPr>
          <p:cNvPr id="5" name="Group 5"/>
          <p:cNvGrpSpPr/>
          <p:nvPr/>
        </p:nvGrpSpPr>
        <p:grpSpPr>
          <a:xfrm>
            <a:off x="9794160" y="4691895"/>
            <a:ext cx="7119677" cy="1112200"/>
            <a:chOff x="0" y="0"/>
            <a:chExt cx="1875141" cy="2929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5141" cy="292925"/>
            </a:xfrm>
            <a:custGeom>
              <a:avLst/>
              <a:gdLst/>
              <a:ahLst/>
              <a:cxnLst/>
              <a:rect l="l" t="t" r="r" b="b"/>
              <a:pathLst>
                <a:path w="1875141" h="292925">
                  <a:moveTo>
                    <a:pt x="108740" y="0"/>
                  </a:moveTo>
                  <a:lnTo>
                    <a:pt x="1766401" y="0"/>
                  </a:lnTo>
                  <a:cubicBezTo>
                    <a:pt x="1826457" y="0"/>
                    <a:pt x="1875141" y="48684"/>
                    <a:pt x="1875141" y="108740"/>
                  </a:cubicBezTo>
                  <a:lnTo>
                    <a:pt x="1875141" y="184185"/>
                  </a:lnTo>
                  <a:cubicBezTo>
                    <a:pt x="1875141" y="244241"/>
                    <a:pt x="1826457" y="292925"/>
                    <a:pt x="1766401" y="292925"/>
                  </a:cubicBezTo>
                  <a:lnTo>
                    <a:pt x="108740" y="292925"/>
                  </a:lnTo>
                  <a:cubicBezTo>
                    <a:pt x="48684" y="292925"/>
                    <a:pt x="0" y="244241"/>
                    <a:pt x="0" y="184185"/>
                  </a:cubicBezTo>
                  <a:lnTo>
                    <a:pt x="0" y="108740"/>
                  </a:lnTo>
                  <a:cubicBezTo>
                    <a:pt x="0" y="48684"/>
                    <a:pt x="48684" y="0"/>
                    <a:pt x="108740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875141" cy="273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11131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694799" y="4772857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7" y="0"/>
                </a:lnTo>
                <a:lnTo>
                  <a:pt x="948547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Freeform 15"/>
          <p:cNvSpPr/>
          <p:nvPr/>
        </p:nvSpPr>
        <p:spPr>
          <a:xfrm>
            <a:off x="8926092" y="5059381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7"/>
                </a:lnTo>
                <a:lnTo>
                  <a:pt x="0" y="377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TextBox 16"/>
          <p:cNvSpPr txBox="1"/>
          <p:nvPr/>
        </p:nvSpPr>
        <p:spPr>
          <a:xfrm>
            <a:off x="10168035" y="4838420"/>
            <a:ext cx="648399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FRAMEWORK DE R PARA CREAR APLICACIONES WEB INTERACTIVAS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11038" y="1595842"/>
            <a:ext cx="6538449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2000" spc="-359">
                <a:solidFill>
                  <a:srgbClr val="11131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Paquete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64798" y="3081461"/>
            <a:ext cx="753216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12000" i="1" spc="-359">
                <a:solidFill>
                  <a:srgbClr val="111312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Shiny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794160" y="6047539"/>
            <a:ext cx="7119677" cy="1112200"/>
            <a:chOff x="0" y="0"/>
            <a:chExt cx="1875141" cy="2929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75141" cy="292925"/>
            </a:xfrm>
            <a:custGeom>
              <a:avLst/>
              <a:gdLst/>
              <a:ahLst/>
              <a:cxnLst/>
              <a:rect l="l" t="t" r="r" b="b"/>
              <a:pathLst>
                <a:path w="1875141" h="292925">
                  <a:moveTo>
                    <a:pt x="108740" y="0"/>
                  </a:moveTo>
                  <a:lnTo>
                    <a:pt x="1766401" y="0"/>
                  </a:lnTo>
                  <a:cubicBezTo>
                    <a:pt x="1826457" y="0"/>
                    <a:pt x="1875141" y="48684"/>
                    <a:pt x="1875141" y="108740"/>
                  </a:cubicBezTo>
                  <a:lnTo>
                    <a:pt x="1875141" y="184185"/>
                  </a:lnTo>
                  <a:cubicBezTo>
                    <a:pt x="1875141" y="244241"/>
                    <a:pt x="1826457" y="292925"/>
                    <a:pt x="1766401" y="292925"/>
                  </a:cubicBezTo>
                  <a:lnTo>
                    <a:pt x="108740" y="292925"/>
                  </a:lnTo>
                  <a:cubicBezTo>
                    <a:pt x="48684" y="292925"/>
                    <a:pt x="0" y="244241"/>
                    <a:pt x="0" y="184185"/>
                  </a:cubicBezTo>
                  <a:lnTo>
                    <a:pt x="0" y="108740"/>
                  </a:lnTo>
                  <a:cubicBezTo>
                    <a:pt x="0" y="48684"/>
                    <a:pt x="48684" y="0"/>
                    <a:pt x="108740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1875141" cy="273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168035" y="6194064"/>
            <a:ext cx="648399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NO REQUIERE CONOCIMIENTOS DE HTML/CSS/JAVASCRIPT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794160" y="7384133"/>
            <a:ext cx="7119677" cy="1112200"/>
            <a:chOff x="0" y="0"/>
            <a:chExt cx="1875141" cy="2929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75141" cy="292925"/>
            </a:xfrm>
            <a:custGeom>
              <a:avLst/>
              <a:gdLst/>
              <a:ahLst/>
              <a:cxnLst/>
              <a:rect l="l" t="t" r="r" b="b"/>
              <a:pathLst>
                <a:path w="1875141" h="292925">
                  <a:moveTo>
                    <a:pt x="108740" y="0"/>
                  </a:moveTo>
                  <a:lnTo>
                    <a:pt x="1766401" y="0"/>
                  </a:lnTo>
                  <a:cubicBezTo>
                    <a:pt x="1826457" y="0"/>
                    <a:pt x="1875141" y="48684"/>
                    <a:pt x="1875141" y="108740"/>
                  </a:cubicBezTo>
                  <a:lnTo>
                    <a:pt x="1875141" y="184185"/>
                  </a:lnTo>
                  <a:cubicBezTo>
                    <a:pt x="1875141" y="244241"/>
                    <a:pt x="1826457" y="292925"/>
                    <a:pt x="1766401" y="292925"/>
                  </a:cubicBezTo>
                  <a:lnTo>
                    <a:pt x="108740" y="292925"/>
                  </a:lnTo>
                  <a:cubicBezTo>
                    <a:pt x="48684" y="292925"/>
                    <a:pt x="0" y="244241"/>
                    <a:pt x="0" y="184185"/>
                  </a:cubicBezTo>
                  <a:lnTo>
                    <a:pt x="0" y="108740"/>
                  </a:lnTo>
                  <a:cubicBezTo>
                    <a:pt x="0" y="48684"/>
                    <a:pt x="48684" y="0"/>
                    <a:pt x="108740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875141" cy="273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168035" y="7522245"/>
            <a:ext cx="664372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DASHBOARDS, HERRAMIENTAS INTERNAS Y DEMOS ANALÍTICAS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94160" y="8771133"/>
            <a:ext cx="7119677" cy="1112200"/>
            <a:chOff x="0" y="0"/>
            <a:chExt cx="1875141" cy="2929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75141" cy="292925"/>
            </a:xfrm>
            <a:custGeom>
              <a:avLst/>
              <a:gdLst/>
              <a:ahLst/>
              <a:cxnLst/>
              <a:rect l="l" t="t" r="r" b="b"/>
              <a:pathLst>
                <a:path w="1875141" h="292925">
                  <a:moveTo>
                    <a:pt x="108740" y="0"/>
                  </a:moveTo>
                  <a:lnTo>
                    <a:pt x="1766401" y="0"/>
                  </a:lnTo>
                  <a:cubicBezTo>
                    <a:pt x="1826457" y="0"/>
                    <a:pt x="1875141" y="48684"/>
                    <a:pt x="1875141" y="108740"/>
                  </a:cubicBezTo>
                  <a:lnTo>
                    <a:pt x="1875141" y="184185"/>
                  </a:lnTo>
                  <a:cubicBezTo>
                    <a:pt x="1875141" y="244241"/>
                    <a:pt x="1826457" y="292925"/>
                    <a:pt x="1766401" y="292925"/>
                  </a:cubicBezTo>
                  <a:lnTo>
                    <a:pt x="108740" y="292925"/>
                  </a:lnTo>
                  <a:cubicBezTo>
                    <a:pt x="48684" y="292925"/>
                    <a:pt x="0" y="244241"/>
                    <a:pt x="0" y="184185"/>
                  </a:cubicBezTo>
                  <a:lnTo>
                    <a:pt x="0" y="108740"/>
                  </a:lnTo>
                  <a:cubicBezTo>
                    <a:pt x="0" y="48684"/>
                    <a:pt x="48684" y="0"/>
                    <a:pt x="108740" y="0"/>
                  </a:cubicBezTo>
                  <a:close/>
                </a:path>
              </a:pathLst>
            </a:custGeom>
            <a:solidFill>
              <a:srgbClr val="60B5E8">
                <a:alpha val="6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1875141" cy="273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168035" y="8875908"/>
            <a:ext cx="648399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EL USUARIO INTERACTÚA DESDE EL NAVEGADOR; LA LÓGICA CORRE EN R</a:t>
            </a:r>
          </a:p>
        </p:txBody>
      </p:sp>
      <p:sp>
        <p:nvSpPr>
          <p:cNvPr id="31" name="Freeform 31"/>
          <p:cNvSpPr/>
          <p:nvPr/>
        </p:nvSpPr>
        <p:spPr>
          <a:xfrm>
            <a:off x="8694799" y="6128501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7" y="0"/>
                </a:lnTo>
                <a:lnTo>
                  <a:pt x="948547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2" name="Freeform 32"/>
          <p:cNvSpPr/>
          <p:nvPr/>
        </p:nvSpPr>
        <p:spPr>
          <a:xfrm>
            <a:off x="8926092" y="6415026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6"/>
                </a:lnTo>
                <a:lnTo>
                  <a:pt x="0" y="377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3" name="Freeform 33"/>
          <p:cNvSpPr/>
          <p:nvPr/>
        </p:nvSpPr>
        <p:spPr>
          <a:xfrm>
            <a:off x="8694799" y="7465095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7" y="0"/>
                </a:lnTo>
                <a:lnTo>
                  <a:pt x="948547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4" name="Freeform 34"/>
          <p:cNvSpPr/>
          <p:nvPr/>
        </p:nvSpPr>
        <p:spPr>
          <a:xfrm>
            <a:off x="8926092" y="7751620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6"/>
                </a:lnTo>
                <a:lnTo>
                  <a:pt x="0" y="377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5" name="Freeform 35"/>
          <p:cNvSpPr/>
          <p:nvPr/>
        </p:nvSpPr>
        <p:spPr>
          <a:xfrm>
            <a:off x="8694799" y="8852095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7" y="0"/>
                </a:lnTo>
                <a:lnTo>
                  <a:pt x="948547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6" name="Freeform 36"/>
          <p:cNvSpPr/>
          <p:nvPr/>
        </p:nvSpPr>
        <p:spPr>
          <a:xfrm>
            <a:off x="8926092" y="9138620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0" y="0"/>
                </a:moveTo>
                <a:lnTo>
                  <a:pt x="485960" y="0"/>
                </a:lnTo>
                <a:lnTo>
                  <a:pt x="485960" y="377226"/>
                </a:lnTo>
                <a:lnTo>
                  <a:pt x="0" y="377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7" name="TextBox 37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 u="sng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2312" y="1456329"/>
            <a:ext cx="6102313" cy="8497296"/>
            <a:chOff x="0" y="0"/>
            <a:chExt cx="1607194" cy="2237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7194" cy="2237971"/>
            </a:xfrm>
            <a:custGeom>
              <a:avLst/>
              <a:gdLst/>
              <a:ahLst/>
              <a:cxnLst/>
              <a:rect l="l" t="t" r="r" b="b"/>
              <a:pathLst>
                <a:path w="1607194" h="2237971">
                  <a:moveTo>
                    <a:pt x="38061" y="0"/>
                  </a:moveTo>
                  <a:lnTo>
                    <a:pt x="1569133" y="0"/>
                  </a:lnTo>
                  <a:cubicBezTo>
                    <a:pt x="1579227" y="0"/>
                    <a:pt x="1588908" y="4010"/>
                    <a:pt x="1596046" y="11148"/>
                  </a:cubicBezTo>
                  <a:cubicBezTo>
                    <a:pt x="1603184" y="18285"/>
                    <a:pt x="1607194" y="27966"/>
                    <a:pt x="1607194" y="38061"/>
                  </a:cubicBezTo>
                  <a:lnTo>
                    <a:pt x="1607194" y="2199910"/>
                  </a:lnTo>
                  <a:cubicBezTo>
                    <a:pt x="1607194" y="2220931"/>
                    <a:pt x="1590153" y="2237971"/>
                    <a:pt x="1569133" y="2237971"/>
                  </a:cubicBezTo>
                  <a:lnTo>
                    <a:pt x="38061" y="2237971"/>
                  </a:lnTo>
                  <a:cubicBezTo>
                    <a:pt x="17040" y="2237971"/>
                    <a:pt x="0" y="2220931"/>
                    <a:pt x="0" y="2199910"/>
                  </a:cubicBezTo>
                  <a:lnTo>
                    <a:pt x="0" y="38061"/>
                  </a:lnTo>
                  <a:cubicBezTo>
                    <a:pt x="0" y="17040"/>
                    <a:pt x="17040" y="0"/>
                    <a:pt x="38061" y="0"/>
                  </a:cubicBezTo>
                  <a:close/>
                </a:path>
              </a:pathLst>
            </a:custGeom>
            <a:solidFill>
              <a:srgbClr val="A7DE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07194" cy="2276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3609416" y="3647050"/>
            <a:ext cx="1294052" cy="1257395"/>
          </a:xfrm>
          <a:prstGeom prst="line">
            <a:avLst/>
          </a:prstGeom>
          <a:ln w="9525" cap="flat">
            <a:solidFill>
              <a:srgbClr val="1113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14903468" y="3628000"/>
            <a:ext cx="1291694" cy="1257395"/>
          </a:xfrm>
          <a:prstGeom prst="line">
            <a:avLst/>
          </a:prstGeom>
          <a:ln w="9525" cap="flat">
            <a:solidFill>
              <a:srgbClr val="1113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7" name="Group 7"/>
          <p:cNvGrpSpPr/>
          <p:nvPr/>
        </p:nvGrpSpPr>
        <p:grpSpPr>
          <a:xfrm>
            <a:off x="12553891" y="4632809"/>
            <a:ext cx="2111050" cy="899032"/>
            <a:chOff x="0" y="0"/>
            <a:chExt cx="555997" cy="2367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5997" cy="236782"/>
            </a:xfrm>
            <a:custGeom>
              <a:avLst/>
              <a:gdLst/>
              <a:ahLst/>
              <a:cxnLst/>
              <a:rect l="l" t="t" r="r" b="b"/>
              <a:pathLst>
                <a:path w="555997" h="236782">
                  <a:moveTo>
                    <a:pt x="73347" y="0"/>
                  </a:moveTo>
                  <a:lnTo>
                    <a:pt x="482650" y="0"/>
                  </a:lnTo>
                  <a:cubicBezTo>
                    <a:pt x="502103" y="0"/>
                    <a:pt x="520759" y="7728"/>
                    <a:pt x="534514" y="21483"/>
                  </a:cubicBezTo>
                  <a:cubicBezTo>
                    <a:pt x="548269" y="35238"/>
                    <a:pt x="555997" y="53894"/>
                    <a:pt x="555997" y="73347"/>
                  </a:cubicBezTo>
                  <a:lnTo>
                    <a:pt x="555997" y="163436"/>
                  </a:lnTo>
                  <a:cubicBezTo>
                    <a:pt x="555997" y="182888"/>
                    <a:pt x="548269" y="201544"/>
                    <a:pt x="534514" y="215299"/>
                  </a:cubicBezTo>
                  <a:cubicBezTo>
                    <a:pt x="520759" y="229055"/>
                    <a:pt x="502103" y="236782"/>
                    <a:pt x="482650" y="236782"/>
                  </a:cubicBezTo>
                  <a:lnTo>
                    <a:pt x="73347" y="236782"/>
                  </a:lnTo>
                  <a:cubicBezTo>
                    <a:pt x="53894" y="236782"/>
                    <a:pt x="35238" y="229055"/>
                    <a:pt x="21483" y="215299"/>
                  </a:cubicBezTo>
                  <a:cubicBezTo>
                    <a:pt x="7728" y="201544"/>
                    <a:pt x="0" y="182888"/>
                    <a:pt x="0" y="163436"/>
                  </a:cubicBezTo>
                  <a:lnTo>
                    <a:pt x="0" y="73347"/>
                  </a:lnTo>
                  <a:cubicBezTo>
                    <a:pt x="0" y="53894"/>
                    <a:pt x="7728" y="35238"/>
                    <a:pt x="21483" y="21483"/>
                  </a:cubicBezTo>
                  <a:cubicBezTo>
                    <a:pt x="35238" y="7728"/>
                    <a:pt x="53894" y="0"/>
                    <a:pt x="73347" y="0"/>
                  </a:cubicBezTo>
                  <a:close/>
                </a:path>
              </a:pathLst>
            </a:custGeom>
            <a:solidFill>
              <a:srgbClr val="E6F3F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55997" cy="29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137280" y="4632809"/>
            <a:ext cx="2115766" cy="899032"/>
            <a:chOff x="0" y="0"/>
            <a:chExt cx="557239" cy="2367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7239" cy="236782"/>
            </a:xfrm>
            <a:custGeom>
              <a:avLst/>
              <a:gdLst/>
              <a:ahLst/>
              <a:cxnLst/>
              <a:rect l="l" t="t" r="r" b="b"/>
              <a:pathLst>
                <a:path w="557239" h="236782">
                  <a:moveTo>
                    <a:pt x="73183" y="0"/>
                  </a:moveTo>
                  <a:lnTo>
                    <a:pt x="484056" y="0"/>
                  </a:lnTo>
                  <a:cubicBezTo>
                    <a:pt x="524474" y="0"/>
                    <a:pt x="557239" y="32765"/>
                    <a:pt x="557239" y="73183"/>
                  </a:cubicBezTo>
                  <a:lnTo>
                    <a:pt x="557239" y="163599"/>
                  </a:lnTo>
                  <a:cubicBezTo>
                    <a:pt x="557239" y="204017"/>
                    <a:pt x="524474" y="236782"/>
                    <a:pt x="484056" y="236782"/>
                  </a:cubicBezTo>
                  <a:lnTo>
                    <a:pt x="73183" y="236782"/>
                  </a:lnTo>
                  <a:cubicBezTo>
                    <a:pt x="53774" y="236782"/>
                    <a:pt x="35159" y="229072"/>
                    <a:pt x="21435" y="215347"/>
                  </a:cubicBezTo>
                  <a:cubicBezTo>
                    <a:pt x="7710" y="201623"/>
                    <a:pt x="0" y="183008"/>
                    <a:pt x="0" y="163599"/>
                  </a:cubicBezTo>
                  <a:lnTo>
                    <a:pt x="0" y="73183"/>
                  </a:lnTo>
                  <a:cubicBezTo>
                    <a:pt x="0" y="32765"/>
                    <a:pt x="32765" y="0"/>
                    <a:pt x="73183" y="0"/>
                  </a:cubicBezTo>
                  <a:close/>
                </a:path>
              </a:pathLst>
            </a:custGeom>
            <a:solidFill>
              <a:srgbClr val="E6F3F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57239" cy="29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69858" y="3189850"/>
            <a:ext cx="3267220" cy="719059"/>
            <a:chOff x="0" y="0"/>
            <a:chExt cx="860502" cy="1893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0502" cy="189382"/>
            </a:xfrm>
            <a:custGeom>
              <a:avLst/>
              <a:gdLst/>
              <a:ahLst/>
              <a:cxnLst/>
              <a:rect l="l" t="t" r="r" b="b"/>
              <a:pathLst>
                <a:path w="860502" h="189382">
                  <a:moveTo>
                    <a:pt x="47391" y="0"/>
                  </a:moveTo>
                  <a:lnTo>
                    <a:pt x="813111" y="0"/>
                  </a:lnTo>
                  <a:cubicBezTo>
                    <a:pt x="839284" y="0"/>
                    <a:pt x="860502" y="21218"/>
                    <a:pt x="860502" y="47391"/>
                  </a:cubicBezTo>
                  <a:lnTo>
                    <a:pt x="860502" y="141990"/>
                  </a:lnTo>
                  <a:cubicBezTo>
                    <a:pt x="860502" y="168164"/>
                    <a:pt x="839284" y="189382"/>
                    <a:pt x="813111" y="189382"/>
                  </a:cubicBezTo>
                  <a:lnTo>
                    <a:pt x="47391" y="189382"/>
                  </a:lnTo>
                  <a:cubicBezTo>
                    <a:pt x="21218" y="189382"/>
                    <a:pt x="0" y="168164"/>
                    <a:pt x="0" y="141990"/>
                  </a:cubicBezTo>
                  <a:lnTo>
                    <a:pt x="0" y="47391"/>
                  </a:lnTo>
                  <a:cubicBezTo>
                    <a:pt x="0" y="21218"/>
                    <a:pt x="21218" y="0"/>
                    <a:pt x="47391" y="0"/>
                  </a:cubicBezTo>
                  <a:close/>
                </a:path>
              </a:pathLst>
            </a:custGeom>
            <a:solidFill>
              <a:srgbClr val="60B5E8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60502" cy="22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7819" y="1574122"/>
            <a:ext cx="11235393" cy="5356312"/>
            <a:chOff x="0" y="0"/>
            <a:chExt cx="1740656" cy="8298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40656" cy="829833"/>
            </a:xfrm>
            <a:custGeom>
              <a:avLst/>
              <a:gdLst/>
              <a:ahLst/>
              <a:cxnLst/>
              <a:rect l="l" t="t" r="r" b="b"/>
              <a:pathLst>
                <a:path w="1740656" h="829833">
                  <a:moveTo>
                    <a:pt x="34453" y="0"/>
                  </a:moveTo>
                  <a:lnTo>
                    <a:pt x="1706203" y="0"/>
                  </a:lnTo>
                  <a:cubicBezTo>
                    <a:pt x="1715341" y="0"/>
                    <a:pt x="1724104" y="3630"/>
                    <a:pt x="1730565" y="10091"/>
                  </a:cubicBezTo>
                  <a:cubicBezTo>
                    <a:pt x="1737027" y="16552"/>
                    <a:pt x="1740656" y="25316"/>
                    <a:pt x="1740656" y="34453"/>
                  </a:cubicBezTo>
                  <a:lnTo>
                    <a:pt x="1740656" y="795380"/>
                  </a:lnTo>
                  <a:cubicBezTo>
                    <a:pt x="1740656" y="804517"/>
                    <a:pt x="1737027" y="813281"/>
                    <a:pt x="1730565" y="819742"/>
                  </a:cubicBezTo>
                  <a:cubicBezTo>
                    <a:pt x="1724104" y="826203"/>
                    <a:pt x="1715341" y="829833"/>
                    <a:pt x="1706203" y="829833"/>
                  </a:cubicBezTo>
                  <a:lnTo>
                    <a:pt x="34453" y="829833"/>
                  </a:lnTo>
                  <a:cubicBezTo>
                    <a:pt x="25316" y="829833"/>
                    <a:pt x="16552" y="826203"/>
                    <a:pt x="10091" y="819742"/>
                  </a:cubicBezTo>
                  <a:cubicBezTo>
                    <a:pt x="3630" y="813281"/>
                    <a:pt x="0" y="804517"/>
                    <a:pt x="0" y="795380"/>
                  </a:cubicBezTo>
                  <a:lnTo>
                    <a:pt x="0" y="34453"/>
                  </a:lnTo>
                  <a:cubicBezTo>
                    <a:pt x="0" y="25316"/>
                    <a:pt x="3630" y="16552"/>
                    <a:pt x="10091" y="10091"/>
                  </a:cubicBezTo>
                  <a:cubicBezTo>
                    <a:pt x="16552" y="3630"/>
                    <a:pt x="25316" y="0"/>
                    <a:pt x="34453" y="0"/>
                  </a:cubicBezTo>
                  <a:close/>
                </a:path>
              </a:pathLst>
            </a:custGeom>
            <a:blipFill>
              <a:blip r:embed="rId2"/>
              <a:stretch>
                <a:fillRect t="-9591" b="-8398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11131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834797" y="6244063"/>
            <a:ext cx="1675703" cy="1669610"/>
          </a:xfrm>
          <a:custGeom>
            <a:avLst/>
            <a:gdLst/>
            <a:ahLst/>
            <a:cxnLst/>
            <a:rect l="l" t="t" r="r" b="b"/>
            <a:pathLst>
              <a:path w="1675703" h="1669610">
                <a:moveTo>
                  <a:pt x="0" y="0"/>
                </a:moveTo>
                <a:lnTo>
                  <a:pt x="1675703" y="0"/>
                </a:lnTo>
                <a:lnTo>
                  <a:pt x="1675703" y="1669610"/>
                </a:lnTo>
                <a:lnTo>
                  <a:pt x="0" y="1669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25" name="Group 25"/>
          <p:cNvGrpSpPr/>
          <p:nvPr/>
        </p:nvGrpSpPr>
        <p:grpSpPr>
          <a:xfrm>
            <a:off x="12602551" y="6031402"/>
            <a:ext cx="2111050" cy="899032"/>
            <a:chOff x="0" y="0"/>
            <a:chExt cx="555997" cy="23678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5997" cy="236782"/>
            </a:xfrm>
            <a:custGeom>
              <a:avLst/>
              <a:gdLst/>
              <a:ahLst/>
              <a:cxnLst/>
              <a:rect l="l" t="t" r="r" b="b"/>
              <a:pathLst>
                <a:path w="555997" h="236782">
                  <a:moveTo>
                    <a:pt x="73347" y="0"/>
                  </a:moveTo>
                  <a:lnTo>
                    <a:pt x="482650" y="0"/>
                  </a:lnTo>
                  <a:cubicBezTo>
                    <a:pt x="502103" y="0"/>
                    <a:pt x="520759" y="7728"/>
                    <a:pt x="534514" y="21483"/>
                  </a:cubicBezTo>
                  <a:cubicBezTo>
                    <a:pt x="548269" y="35238"/>
                    <a:pt x="555997" y="53894"/>
                    <a:pt x="555997" y="73347"/>
                  </a:cubicBezTo>
                  <a:lnTo>
                    <a:pt x="555997" y="163436"/>
                  </a:lnTo>
                  <a:cubicBezTo>
                    <a:pt x="555997" y="182888"/>
                    <a:pt x="548269" y="201544"/>
                    <a:pt x="534514" y="215299"/>
                  </a:cubicBezTo>
                  <a:cubicBezTo>
                    <a:pt x="520759" y="229055"/>
                    <a:pt x="502103" y="236782"/>
                    <a:pt x="482650" y="236782"/>
                  </a:cubicBezTo>
                  <a:lnTo>
                    <a:pt x="73347" y="236782"/>
                  </a:lnTo>
                  <a:cubicBezTo>
                    <a:pt x="53894" y="236782"/>
                    <a:pt x="35238" y="229055"/>
                    <a:pt x="21483" y="215299"/>
                  </a:cubicBezTo>
                  <a:cubicBezTo>
                    <a:pt x="7728" y="201544"/>
                    <a:pt x="0" y="182888"/>
                    <a:pt x="0" y="163436"/>
                  </a:cubicBezTo>
                  <a:lnTo>
                    <a:pt x="0" y="73347"/>
                  </a:lnTo>
                  <a:cubicBezTo>
                    <a:pt x="0" y="53894"/>
                    <a:pt x="7728" y="35238"/>
                    <a:pt x="21483" y="21483"/>
                  </a:cubicBezTo>
                  <a:cubicBezTo>
                    <a:pt x="35238" y="7728"/>
                    <a:pt x="53894" y="0"/>
                    <a:pt x="73347" y="0"/>
                  </a:cubicBezTo>
                  <a:close/>
                </a:path>
              </a:pathLst>
            </a:custGeom>
            <a:solidFill>
              <a:srgbClr val="E6F3F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555997" cy="29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48250" y="6031402"/>
            <a:ext cx="2111050" cy="899032"/>
            <a:chOff x="0" y="0"/>
            <a:chExt cx="555997" cy="2367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5997" cy="236782"/>
            </a:xfrm>
            <a:custGeom>
              <a:avLst/>
              <a:gdLst/>
              <a:ahLst/>
              <a:cxnLst/>
              <a:rect l="l" t="t" r="r" b="b"/>
              <a:pathLst>
                <a:path w="555997" h="236782">
                  <a:moveTo>
                    <a:pt x="73347" y="0"/>
                  </a:moveTo>
                  <a:lnTo>
                    <a:pt x="482650" y="0"/>
                  </a:lnTo>
                  <a:cubicBezTo>
                    <a:pt x="502103" y="0"/>
                    <a:pt x="520759" y="7728"/>
                    <a:pt x="534514" y="21483"/>
                  </a:cubicBezTo>
                  <a:cubicBezTo>
                    <a:pt x="548269" y="35238"/>
                    <a:pt x="555997" y="53894"/>
                    <a:pt x="555997" y="73347"/>
                  </a:cubicBezTo>
                  <a:lnTo>
                    <a:pt x="555997" y="163436"/>
                  </a:lnTo>
                  <a:cubicBezTo>
                    <a:pt x="555997" y="182888"/>
                    <a:pt x="548269" y="201544"/>
                    <a:pt x="534514" y="215299"/>
                  </a:cubicBezTo>
                  <a:cubicBezTo>
                    <a:pt x="520759" y="229055"/>
                    <a:pt x="502103" y="236782"/>
                    <a:pt x="482650" y="236782"/>
                  </a:cubicBezTo>
                  <a:lnTo>
                    <a:pt x="73347" y="236782"/>
                  </a:lnTo>
                  <a:cubicBezTo>
                    <a:pt x="53894" y="236782"/>
                    <a:pt x="35238" y="229055"/>
                    <a:pt x="21483" y="215299"/>
                  </a:cubicBezTo>
                  <a:cubicBezTo>
                    <a:pt x="7728" y="201544"/>
                    <a:pt x="0" y="182888"/>
                    <a:pt x="0" y="163436"/>
                  </a:cubicBezTo>
                  <a:lnTo>
                    <a:pt x="0" y="73347"/>
                  </a:lnTo>
                  <a:cubicBezTo>
                    <a:pt x="0" y="53894"/>
                    <a:pt x="7728" y="35238"/>
                    <a:pt x="21483" y="21483"/>
                  </a:cubicBezTo>
                  <a:cubicBezTo>
                    <a:pt x="35238" y="7728"/>
                    <a:pt x="53894" y="0"/>
                    <a:pt x="73347" y="0"/>
                  </a:cubicBezTo>
                  <a:close/>
                </a:path>
              </a:pathLst>
            </a:custGeom>
            <a:solidFill>
              <a:srgbClr val="E6F3F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555997" cy="29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AutoShape 31"/>
          <p:cNvSpPr/>
          <p:nvPr/>
        </p:nvSpPr>
        <p:spPr>
          <a:xfrm flipV="1">
            <a:off x="13604654" y="5531841"/>
            <a:ext cx="0" cy="499561"/>
          </a:xfrm>
          <a:prstGeom prst="line">
            <a:avLst/>
          </a:prstGeom>
          <a:ln w="9525" cap="flat">
            <a:solidFill>
              <a:srgbClr val="1113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2" name="AutoShape 32"/>
          <p:cNvSpPr/>
          <p:nvPr/>
        </p:nvSpPr>
        <p:spPr>
          <a:xfrm flipV="1">
            <a:off x="16190400" y="5541366"/>
            <a:ext cx="0" cy="499561"/>
          </a:xfrm>
          <a:prstGeom prst="line">
            <a:avLst/>
          </a:prstGeom>
          <a:ln w="9525" cap="flat">
            <a:solidFill>
              <a:srgbClr val="1113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33" name="Group 33"/>
          <p:cNvGrpSpPr/>
          <p:nvPr/>
        </p:nvGrpSpPr>
        <p:grpSpPr>
          <a:xfrm>
            <a:off x="12602551" y="7236654"/>
            <a:ext cx="4945776" cy="899032"/>
            <a:chOff x="0" y="0"/>
            <a:chExt cx="1302591" cy="2367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02591" cy="236782"/>
            </a:xfrm>
            <a:custGeom>
              <a:avLst/>
              <a:gdLst/>
              <a:ahLst/>
              <a:cxnLst/>
              <a:rect l="l" t="t" r="r" b="b"/>
              <a:pathLst>
                <a:path w="1302591" h="236782">
                  <a:moveTo>
                    <a:pt x="31307" y="0"/>
                  </a:moveTo>
                  <a:lnTo>
                    <a:pt x="1271284" y="0"/>
                  </a:lnTo>
                  <a:cubicBezTo>
                    <a:pt x="1288575" y="0"/>
                    <a:pt x="1302591" y="14017"/>
                    <a:pt x="1302591" y="31307"/>
                  </a:cubicBezTo>
                  <a:lnTo>
                    <a:pt x="1302591" y="205475"/>
                  </a:lnTo>
                  <a:cubicBezTo>
                    <a:pt x="1302591" y="222765"/>
                    <a:pt x="1288575" y="236782"/>
                    <a:pt x="1271284" y="236782"/>
                  </a:cubicBezTo>
                  <a:lnTo>
                    <a:pt x="31307" y="236782"/>
                  </a:lnTo>
                  <a:cubicBezTo>
                    <a:pt x="23004" y="236782"/>
                    <a:pt x="15041" y="233484"/>
                    <a:pt x="9170" y="227612"/>
                  </a:cubicBezTo>
                  <a:cubicBezTo>
                    <a:pt x="3298" y="221741"/>
                    <a:pt x="0" y="213778"/>
                    <a:pt x="0" y="205475"/>
                  </a:cubicBezTo>
                  <a:lnTo>
                    <a:pt x="0" y="31307"/>
                  </a:lnTo>
                  <a:cubicBezTo>
                    <a:pt x="0" y="14017"/>
                    <a:pt x="14017" y="0"/>
                    <a:pt x="31307" y="0"/>
                  </a:cubicBezTo>
                  <a:close/>
                </a:path>
              </a:pathLst>
            </a:custGeom>
            <a:solidFill>
              <a:srgbClr val="E6F3F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302591" cy="29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759166" y="4935958"/>
            <a:ext cx="17005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343013" y="4935958"/>
            <a:ext cx="1704299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SERVER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587558" y="3285366"/>
            <a:ext cx="2631821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MODELO CLIENTE–SERVIDOR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02551" y="1847142"/>
            <a:ext cx="4601835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ESTRUC</a:t>
            </a:r>
            <a:r>
              <a:rPr lang="en-US" sz="3200" b="1" u="none" strike="noStrike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TURA DE UN APP SHINY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5430" y="7997189"/>
            <a:ext cx="10300170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71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Basado en un sistema reactivo: actualiza automáticamente salidas cuando cambian entradas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07826" y="6334551"/>
            <a:ext cx="17005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ENVÍA INPUTS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116995" y="6215488"/>
            <a:ext cx="219260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EJECUTA CÁLCULOS, GENERA OUTPUTS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083470" y="7401690"/>
            <a:ext cx="3983937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COMUNICACIÓN CONTINUA ENTRE AMBOS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32260" y="9629140"/>
            <a:ext cx="7497812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Usuario → Inputs → Servidor (R) → Outputs → Pantalla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807826" y="8364287"/>
            <a:ext cx="4695307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ui &lt;- fluidPage(...)</a:t>
            </a:r>
          </a:p>
          <a:p>
            <a:pPr algn="l">
              <a:lnSpc>
                <a:spcPts val="1650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65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server &lt;- function(input, output, session) {</a:t>
            </a:r>
          </a:p>
          <a:p>
            <a:pPr algn="l">
              <a:lnSpc>
                <a:spcPts val="165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 ...</a:t>
            </a:r>
          </a:p>
          <a:p>
            <a:pPr algn="l">
              <a:lnSpc>
                <a:spcPts val="165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}</a:t>
            </a:r>
          </a:p>
          <a:p>
            <a:pPr algn="l">
              <a:lnSpc>
                <a:spcPts val="1650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165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shinyApp(ui, server)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 u="sng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633214" y="-47256"/>
            <a:ext cx="10301905" cy="10396418"/>
          </a:xfrm>
          <a:custGeom>
            <a:avLst/>
            <a:gdLst/>
            <a:ahLst/>
            <a:cxnLst/>
            <a:rect l="l" t="t" r="r" b="b"/>
            <a:pathLst>
              <a:path w="10301905" h="10396418">
                <a:moveTo>
                  <a:pt x="0" y="0"/>
                </a:moveTo>
                <a:lnTo>
                  <a:pt x="10301905" y="0"/>
                </a:lnTo>
                <a:lnTo>
                  <a:pt x="10301905" y="10396417"/>
                </a:lnTo>
                <a:lnTo>
                  <a:pt x="0" y="1039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0088D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72317" y="2655591"/>
            <a:ext cx="6197248" cy="950275"/>
            <a:chOff x="0" y="0"/>
            <a:chExt cx="1632197" cy="2502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32197" cy="250278"/>
            </a:xfrm>
            <a:custGeom>
              <a:avLst/>
              <a:gdLst/>
              <a:ahLst/>
              <a:cxnLst/>
              <a:rect l="l" t="t" r="r" b="b"/>
              <a:pathLst>
                <a:path w="1632197" h="250278">
                  <a:moveTo>
                    <a:pt x="124925" y="0"/>
                  </a:moveTo>
                  <a:lnTo>
                    <a:pt x="1507272" y="0"/>
                  </a:lnTo>
                  <a:cubicBezTo>
                    <a:pt x="1540404" y="0"/>
                    <a:pt x="1572179" y="13162"/>
                    <a:pt x="1595607" y="36590"/>
                  </a:cubicBezTo>
                  <a:cubicBezTo>
                    <a:pt x="1619035" y="60018"/>
                    <a:pt x="1632197" y="91793"/>
                    <a:pt x="1632197" y="124925"/>
                  </a:cubicBezTo>
                  <a:lnTo>
                    <a:pt x="1632197" y="125353"/>
                  </a:lnTo>
                  <a:cubicBezTo>
                    <a:pt x="1632197" y="194347"/>
                    <a:pt x="1576266" y="250278"/>
                    <a:pt x="1507272" y="250278"/>
                  </a:cubicBezTo>
                  <a:lnTo>
                    <a:pt x="124925" y="250278"/>
                  </a:lnTo>
                  <a:cubicBezTo>
                    <a:pt x="55931" y="250278"/>
                    <a:pt x="0" y="194347"/>
                    <a:pt x="0" y="125353"/>
                  </a:cubicBezTo>
                  <a:lnTo>
                    <a:pt x="0" y="124925"/>
                  </a:lnTo>
                  <a:cubicBezTo>
                    <a:pt x="0" y="55931"/>
                    <a:pt x="55931" y="0"/>
                    <a:pt x="124925" y="0"/>
                  </a:cubicBezTo>
                  <a:close/>
                </a:path>
              </a:pathLst>
            </a:custGeom>
            <a:solidFill>
              <a:srgbClr val="E6F3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632197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10500" y="2833290"/>
            <a:ext cx="632088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COMPONENTES DE LA UI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21156" y="2655591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0152450" y="2942115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485960" y="0"/>
                </a:moveTo>
                <a:lnTo>
                  <a:pt x="0" y="0"/>
                </a:lnTo>
                <a:lnTo>
                  <a:pt x="0" y="377227"/>
                </a:lnTo>
                <a:lnTo>
                  <a:pt x="485960" y="377227"/>
                </a:lnTo>
                <a:lnTo>
                  <a:pt x="4859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10869704" y="6184429"/>
            <a:ext cx="10300170" cy="189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0" lvl="1" indent="-388615" algn="l">
              <a:lnSpc>
                <a:spcPts val="5039"/>
              </a:lnSpc>
              <a:buAutoNum type="arabicPeriod"/>
            </a:pPr>
            <a:r>
              <a:rPr lang="en-US" sz="3599" spc="-71">
                <a:solidFill>
                  <a:srgbClr val="F8FBF5"/>
                </a:solidFill>
                <a:latin typeface="Clear Sans"/>
                <a:ea typeface="Clear Sans"/>
                <a:cs typeface="Clear Sans"/>
                <a:sym typeface="Clear Sans"/>
              </a:rPr>
              <a:t>Layouts</a:t>
            </a:r>
          </a:p>
          <a:p>
            <a:pPr marL="777230" lvl="1" indent="-388615" algn="l">
              <a:lnSpc>
                <a:spcPts val="5039"/>
              </a:lnSpc>
              <a:buAutoNum type="arabicPeriod"/>
            </a:pPr>
            <a:r>
              <a:rPr lang="en-US" sz="3599" spc="-71">
                <a:solidFill>
                  <a:srgbClr val="F8FBF5"/>
                </a:solidFill>
                <a:latin typeface="Clear Sans"/>
                <a:ea typeface="Clear Sans"/>
                <a:cs typeface="Clear Sans"/>
                <a:sym typeface="Clear Sans"/>
              </a:rPr>
              <a:t>Inputs</a:t>
            </a:r>
          </a:p>
          <a:p>
            <a:pPr marL="777230" lvl="1" indent="-388615" algn="l">
              <a:lnSpc>
                <a:spcPts val="5039"/>
              </a:lnSpc>
              <a:buAutoNum type="arabicPeriod"/>
            </a:pPr>
            <a:r>
              <a:rPr lang="en-US" sz="3599" spc="-71">
                <a:solidFill>
                  <a:srgbClr val="F8FBF5"/>
                </a:solidFill>
                <a:latin typeface="Clear Sans"/>
                <a:ea typeface="Clear Sans"/>
                <a:cs typeface="Clear Sans"/>
                <a:sym typeface="Clear Sans"/>
              </a:rPr>
              <a:t>Outputs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72674" y="4525658"/>
            <a:ext cx="7588742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La UI define qué puede hacer el usuario y qué outputs verá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 u="sng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633214" y="-47256"/>
            <a:ext cx="10301905" cy="10396418"/>
          </a:xfrm>
          <a:custGeom>
            <a:avLst/>
            <a:gdLst/>
            <a:ahLst/>
            <a:cxnLst/>
            <a:rect l="l" t="t" r="r" b="b"/>
            <a:pathLst>
              <a:path w="10301905" h="10396418">
                <a:moveTo>
                  <a:pt x="0" y="0"/>
                </a:moveTo>
                <a:lnTo>
                  <a:pt x="10301905" y="0"/>
                </a:lnTo>
                <a:lnTo>
                  <a:pt x="10301905" y="10396417"/>
                </a:lnTo>
                <a:lnTo>
                  <a:pt x="0" y="1039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0088D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72317" y="2655591"/>
            <a:ext cx="6197248" cy="950275"/>
            <a:chOff x="0" y="0"/>
            <a:chExt cx="1632197" cy="2502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32197" cy="250278"/>
            </a:xfrm>
            <a:custGeom>
              <a:avLst/>
              <a:gdLst/>
              <a:ahLst/>
              <a:cxnLst/>
              <a:rect l="l" t="t" r="r" b="b"/>
              <a:pathLst>
                <a:path w="1632197" h="250278">
                  <a:moveTo>
                    <a:pt x="124925" y="0"/>
                  </a:moveTo>
                  <a:lnTo>
                    <a:pt x="1507272" y="0"/>
                  </a:lnTo>
                  <a:cubicBezTo>
                    <a:pt x="1540404" y="0"/>
                    <a:pt x="1572179" y="13162"/>
                    <a:pt x="1595607" y="36590"/>
                  </a:cubicBezTo>
                  <a:cubicBezTo>
                    <a:pt x="1619035" y="60018"/>
                    <a:pt x="1632197" y="91793"/>
                    <a:pt x="1632197" y="124925"/>
                  </a:cubicBezTo>
                  <a:lnTo>
                    <a:pt x="1632197" y="125353"/>
                  </a:lnTo>
                  <a:cubicBezTo>
                    <a:pt x="1632197" y="194347"/>
                    <a:pt x="1576266" y="250278"/>
                    <a:pt x="1507272" y="250278"/>
                  </a:cubicBezTo>
                  <a:lnTo>
                    <a:pt x="124925" y="250278"/>
                  </a:lnTo>
                  <a:cubicBezTo>
                    <a:pt x="55931" y="250278"/>
                    <a:pt x="0" y="194347"/>
                    <a:pt x="0" y="125353"/>
                  </a:cubicBezTo>
                  <a:lnTo>
                    <a:pt x="0" y="124925"/>
                  </a:lnTo>
                  <a:cubicBezTo>
                    <a:pt x="0" y="55931"/>
                    <a:pt x="55931" y="0"/>
                    <a:pt x="124925" y="0"/>
                  </a:cubicBezTo>
                  <a:close/>
                </a:path>
              </a:pathLst>
            </a:custGeom>
            <a:solidFill>
              <a:srgbClr val="E6F3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632197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10500" y="2833290"/>
            <a:ext cx="632088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COMPONENTES DEL SERVIDOR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21156" y="2655591"/>
            <a:ext cx="948548" cy="950275"/>
          </a:xfrm>
          <a:custGeom>
            <a:avLst/>
            <a:gdLst/>
            <a:ahLst/>
            <a:cxnLst/>
            <a:rect l="l" t="t" r="r" b="b"/>
            <a:pathLst>
              <a:path w="948548" h="950275">
                <a:moveTo>
                  <a:pt x="0" y="0"/>
                </a:moveTo>
                <a:lnTo>
                  <a:pt x="948548" y="0"/>
                </a:lnTo>
                <a:lnTo>
                  <a:pt x="948548" y="950275"/>
                </a:lnTo>
                <a:lnTo>
                  <a:pt x="0" y="95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0152450" y="2942115"/>
            <a:ext cx="485960" cy="377226"/>
          </a:xfrm>
          <a:custGeom>
            <a:avLst/>
            <a:gdLst/>
            <a:ahLst/>
            <a:cxnLst/>
            <a:rect l="l" t="t" r="r" b="b"/>
            <a:pathLst>
              <a:path w="485960" h="377226">
                <a:moveTo>
                  <a:pt x="485960" y="0"/>
                </a:moveTo>
                <a:lnTo>
                  <a:pt x="0" y="0"/>
                </a:lnTo>
                <a:lnTo>
                  <a:pt x="0" y="377227"/>
                </a:lnTo>
                <a:lnTo>
                  <a:pt x="485960" y="377227"/>
                </a:lnTo>
                <a:lnTo>
                  <a:pt x="4859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9282696" y="6035371"/>
            <a:ext cx="8095786" cy="317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spc="-72">
                <a:solidFill>
                  <a:srgbClr val="F8FBF5"/>
                </a:solidFill>
                <a:latin typeface="Clear Sans"/>
                <a:ea typeface="Clear Sans"/>
                <a:cs typeface="Clear Sans"/>
                <a:sym typeface="Clear Sans"/>
              </a:rPr>
              <a:t>Conecta inputs con cálculos en R</a:t>
            </a: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spc="-72">
                <a:solidFill>
                  <a:srgbClr val="F8FBF5"/>
                </a:solidFill>
                <a:latin typeface="Clear Sans"/>
                <a:ea typeface="Clear Sans"/>
                <a:cs typeface="Clear Sans"/>
                <a:sym typeface="Clear Sans"/>
              </a:rPr>
              <a:t>Produce outputs que dependen de esos cálculos</a:t>
            </a: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spc="-72">
                <a:solidFill>
                  <a:srgbClr val="F8FBF5"/>
                </a:solidFill>
                <a:latin typeface="Clear Sans"/>
                <a:ea typeface="Clear Sans"/>
                <a:cs typeface="Clear Sans"/>
                <a:sym typeface="Clear Sans"/>
              </a:rPr>
              <a:t>Usa funciones especiales para generar salidas (Ej.: renderPlot)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72674" y="4525658"/>
            <a:ext cx="563514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El servidor define la lógica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 u="sng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273036" y="-685466"/>
            <a:ext cx="7653923" cy="8033698"/>
          </a:xfrm>
          <a:custGeom>
            <a:avLst/>
            <a:gdLst/>
            <a:ahLst/>
            <a:cxnLst/>
            <a:rect l="l" t="t" r="r" b="b"/>
            <a:pathLst>
              <a:path w="7653923" h="8033698">
                <a:moveTo>
                  <a:pt x="0" y="0"/>
                </a:moveTo>
                <a:lnTo>
                  <a:pt x="7653923" y="0"/>
                </a:lnTo>
                <a:lnTo>
                  <a:pt x="7653923" y="8033698"/>
                </a:lnTo>
                <a:lnTo>
                  <a:pt x="0" y="803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1031906" y="2016933"/>
            <a:ext cx="9700501" cy="349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9"/>
              </a:lnSpc>
              <a:spcBef>
                <a:spcPct val="0"/>
              </a:spcBef>
            </a:pPr>
            <a:r>
              <a:rPr lang="en-US" sz="9999" spc="-299">
                <a:solidFill>
                  <a:srgbClr val="11131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Flujo de trabajo para c</a:t>
            </a:r>
            <a:r>
              <a:rPr lang="en-US" sz="9999" u="none" strike="noStrike" spc="-299">
                <a:solidFill>
                  <a:srgbClr val="11131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rear una app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33375" y="6499577"/>
            <a:ext cx="17621250" cy="3454048"/>
            <a:chOff x="0" y="0"/>
            <a:chExt cx="4640988" cy="9097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40988" cy="909708"/>
            </a:xfrm>
            <a:custGeom>
              <a:avLst/>
              <a:gdLst/>
              <a:ahLst/>
              <a:cxnLst/>
              <a:rect l="l" t="t" r="r" b="b"/>
              <a:pathLst>
                <a:path w="4640988" h="909708">
                  <a:moveTo>
                    <a:pt x="13181" y="0"/>
                  </a:moveTo>
                  <a:lnTo>
                    <a:pt x="4627807" y="0"/>
                  </a:lnTo>
                  <a:cubicBezTo>
                    <a:pt x="4635086" y="0"/>
                    <a:pt x="4640988" y="5901"/>
                    <a:pt x="4640988" y="13181"/>
                  </a:cubicBezTo>
                  <a:lnTo>
                    <a:pt x="4640988" y="896528"/>
                  </a:lnTo>
                  <a:cubicBezTo>
                    <a:pt x="4640988" y="903807"/>
                    <a:pt x="4635086" y="909708"/>
                    <a:pt x="4627807" y="909708"/>
                  </a:cubicBezTo>
                  <a:lnTo>
                    <a:pt x="13181" y="909708"/>
                  </a:lnTo>
                  <a:cubicBezTo>
                    <a:pt x="5901" y="909708"/>
                    <a:pt x="0" y="903807"/>
                    <a:pt x="0" y="896528"/>
                  </a:cubicBezTo>
                  <a:lnTo>
                    <a:pt x="0" y="13181"/>
                  </a:lnTo>
                  <a:cubicBezTo>
                    <a:pt x="0" y="5901"/>
                    <a:pt x="5901" y="0"/>
                    <a:pt x="13181" y="0"/>
                  </a:cubicBezTo>
                  <a:close/>
                </a:path>
              </a:pathLst>
            </a:custGeom>
            <a:solidFill>
              <a:srgbClr val="A7DE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640988" cy="947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70835" y="333375"/>
            <a:ext cx="14083790" cy="833134"/>
            <a:chOff x="0" y="0"/>
            <a:chExt cx="3709311" cy="2194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9311" cy="219426"/>
            </a:xfrm>
            <a:custGeom>
              <a:avLst/>
              <a:gdLst/>
              <a:ahLst/>
              <a:cxnLst/>
              <a:rect l="l" t="t" r="r" b="b"/>
              <a:pathLst>
                <a:path w="3709311" h="219426">
                  <a:moveTo>
                    <a:pt x="8246" y="0"/>
                  </a:moveTo>
                  <a:lnTo>
                    <a:pt x="3701066" y="0"/>
                  </a:lnTo>
                  <a:cubicBezTo>
                    <a:pt x="3703253" y="0"/>
                    <a:pt x="3705350" y="869"/>
                    <a:pt x="3706896" y="2415"/>
                  </a:cubicBezTo>
                  <a:cubicBezTo>
                    <a:pt x="3708443" y="3961"/>
                    <a:pt x="3709311" y="6059"/>
                    <a:pt x="3709311" y="8246"/>
                  </a:cubicBezTo>
                  <a:lnTo>
                    <a:pt x="3709311" y="211181"/>
                  </a:lnTo>
                  <a:cubicBezTo>
                    <a:pt x="3709311" y="213368"/>
                    <a:pt x="3708443" y="215465"/>
                    <a:pt x="3706896" y="217011"/>
                  </a:cubicBezTo>
                  <a:cubicBezTo>
                    <a:pt x="3705350" y="218558"/>
                    <a:pt x="3703253" y="219426"/>
                    <a:pt x="3701066" y="219426"/>
                  </a:cubicBezTo>
                  <a:lnTo>
                    <a:pt x="8246" y="219426"/>
                  </a:lnTo>
                  <a:cubicBezTo>
                    <a:pt x="6059" y="219426"/>
                    <a:pt x="3961" y="218558"/>
                    <a:pt x="2415" y="217011"/>
                  </a:cubicBezTo>
                  <a:cubicBezTo>
                    <a:pt x="869" y="215465"/>
                    <a:pt x="0" y="213368"/>
                    <a:pt x="0" y="211181"/>
                  </a:cubicBezTo>
                  <a:lnTo>
                    <a:pt x="0" y="8246"/>
                  </a:lnTo>
                  <a:cubicBezTo>
                    <a:pt x="0" y="6059"/>
                    <a:pt x="869" y="3961"/>
                    <a:pt x="2415" y="2415"/>
                  </a:cubicBezTo>
                  <a:cubicBezTo>
                    <a:pt x="3961" y="869"/>
                    <a:pt x="6059" y="0"/>
                    <a:pt x="8246" y="0"/>
                  </a:cubicBezTo>
                  <a:close/>
                </a:path>
              </a:pathLst>
            </a:custGeom>
            <a:solidFill>
              <a:srgbClr val="60B5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3709311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3375" y="333375"/>
            <a:ext cx="3375780" cy="833134"/>
            <a:chOff x="0" y="0"/>
            <a:chExt cx="889094" cy="2194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094" cy="219426"/>
            </a:xfrm>
            <a:custGeom>
              <a:avLst/>
              <a:gdLst/>
              <a:ahLst/>
              <a:cxnLst/>
              <a:rect l="l" t="t" r="r" b="b"/>
              <a:pathLst>
                <a:path w="889094" h="219426">
                  <a:moveTo>
                    <a:pt x="109713" y="0"/>
                  </a:moveTo>
                  <a:lnTo>
                    <a:pt x="779381" y="0"/>
                  </a:lnTo>
                  <a:cubicBezTo>
                    <a:pt x="839974" y="0"/>
                    <a:pt x="889094" y="49120"/>
                    <a:pt x="889094" y="109713"/>
                  </a:cubicBezTo>
                  <a:lnTo>
                    <a:pt x="889094" y="109713"/>
                  </a:lnTo>
                  <a:cubicBezTo>
                    <a:pt x="889094" y="138811"/>
                    <a:pt x="877535" y="166717"/>
                    <a:pt x="856960" y="187292"/>
                  </a:cubicBezTo>
                  <a:cubicBezTo>
                    <a:pt x="836385" y="207867"/>
                    <a:pt x="808479" y="219426"/>
                    <a:pt x="779381" y="219426"/>
                  </a:cubicBezTo>
                  <a:lnTo>
                    <a:pt x="109713" y="219426"/>
                  </a:lnTo>
                  <a:cubicBezTo>
                    <a:pt x="49120" y="219426"/>
                    <a:pt x="0" y="170306"/>
                    <a:pt x="0" y="109713"/>
                  </a:cubicBezTo>
                  <a:lnTo>
                    <a:pt x="0" y="109713"/>
                  </a:lnTo>
                  <a:cubicBezTo>
                    <a:pt x="0" y="49120"/>
                    <a:pt x="49120" y="0"/>
                    <a:pt x="109713" y="0"/>
                  </a:cubicBezTo>
                  <a:close/>
                </a:path>
              </a:pathLst>
            </a:custGeom>
            <a:solidFill>
              <a:srgbClr val="11131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889094" cy="200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150784"/>
            <a:ext cx="2322094" cy="697586"/>
            <a:chOff x="0" y="0"/>
            <a:chExt cx="833115" cy="2502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3115" cy="250278"/>
            </a:xfrm>
            <a:custGeom>
              <a:avLst/>
              <a:gdLst/>
              <a:ahLst/>
              <a:cxnLst/>
              <a:rect l="l" t="t" r="r" b="b"/>
              <a:pathLst>
                <a:path w="833115" h="250278">
                  <a:moveTo>
                    <a:pt x="125139" y="0"/>
                  </a:moveTo>
                  <a:lnTo>
                    <a:pt x="707976" y="0"/>
                  </a:lnTo>
                  <a:cubicBezTo>
                    <a:pt x="777089" y="0"/>
                    <a:pt x="833115" y="56027"/>
                    <a:pt x="833115" y="125139"/>
                  </a:cubicBezTo>
                  <a:lnTo>
                    <a:pt x="833115" y="125139"/>
                  </a:lnTo>
                  <a:cubicBezTo>
                    <a:pt x="833115" y="158328"/>
                    <a:pt x="819931" y="190158"/>
                    <a:pt x="796463" y="213626"/>
                  </a:cubicBezTo>
                  <a:cubicBezTo>
                    <a:pt x="772995" y="237094"/>
                    <a:pt x="741165" y="250278"/>
                    <a:pt x="707976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60B5E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833115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171690" y="6150784"/>
            <a:ext cx="2322094" cy="697586"/>
            <a:chOff x="0" y="0"/>
            <a:chExt cx="833115" cy="2502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33115" cy="250278"/>
            </a:xfrm>
            <a:custGeom>
              <a:avLst/>
              <a:gdLst/>
              <a:ahLst/>
              <a:cxnLst/>
              <a:rect l="l" t="t" r="r" b="b"/>
              <a:pathLst>
                <a:path w="833115" h="250278">
                  <a:moveTo>
                    <a:pt x="125139" y="0"/>
                  </a:moveTo>
                  <a:lnTo>
                    <a:pt x="707976" y="0"/>
                  </a:lnTo>
                  <a:cubicBezTo>
                    <a:pt x="777089" y="0"/>
                    <a:pt x="833115" y="56027"/>
                    <a:pt x="833115" y="125139"/>
                  </a:cubicBezTo>
                  <a:lnTo>
                    <a:pt x="833115" y="125139"/>
                  </a:lnTo>
                  <a:cubicBezTo>
                    <a:pt x="833115" y="158328"/>
                    <a:pt x="819931" y="190158"/>
                    <a:pt x="796463" y="213626"/>
                  </a:cubicBezTo>
                  <a:cubicBezTo>
                    <a:pt x="772995" y="237094"/>
                    <a:pt x="741165" y="250278"/>
                    <a:pt x="707976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60B5E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833115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01785" y="6150784"/>
            <a:ext cx="3187396" cy="697586"/>
            <a:chOff x="0" y="0"/>
            <a:chExt cx="1143567" cy="2502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43567" cy="250278"/>
            </a:xfrm>
            <a:custGeom>
              <a:avLst/>
              <a:gdLst/>
              <a:ahLst/>
              <a:cxnLst/>
              <a:rect l="l" t="t" r="r" b="b"/>
              <a:pathLst>
                <a:path w="1143567" h="250278">
                  <a:moveTo>
                    <a:pt x="125139" y="0"/>
                  </a:moveTo>
                  <a:lnTo>
                    <a:pt x="1018427" y="0"/>
                  </a:lnTo>
                  <a:cubicBezTo>
                    <a:pt x="1051616" y="0"/>
                    <a:pt x="1083446" y="13184"/>
                    <a:pt x="1106914" y="36652"/>
                  </a:cubicBezTo>
                  <a:cubicBezTo>
                    <a:pt x="1130382" y="60121"/>
                    <a:pt x="1143567" y="91950"/>
                    <a:pt x="1143567" y="125139"/>
                  </a:cubicBezTo>
                  <a:lnTo>
                    <a:pt x="1143567" y="125139"/>
                  </a:lnTo>
                  <a:cubicBezTo>
                    <a:pt x="1143567" y="194252"/>
                    <a:pt x="1087540" y="250278"/>
                    <a:pt x="1018427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60B5E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1143567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63405" y="6150784"/>
            <a:ext cx="2579735" cy="697586"/>
            <a:chOff x="0" y="0"/>
            <a:chExt cx="925551" cy="2502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5551" cy="250278"/>
            </a:xfrm>
            <a:custGeom>
              <a:avLst/>
              <a:gdLst/>
              <a:ahLst/>
              <a:cxnLst/>
              <a:rect l="l" t="t" r="r" b="b"/>
              <a:pathLst>
                <a:path w="925551" h="250278">
                  <a:moveTo>
                    <a:pt x="125139" y="0"/>
                  </a:moveTo>
                  <a:lnTo>
                    <a:pt x="800412" y="0"/>
                  </a:lnTo>
                  <a:cubicBezTo>
                    <a:pt x="833601" y="0"/>
                    <a:pt x="865431" y="13184"/>
                    <a:pt x="888899" y="36652"/>
                  </a:cubicBezTo>
                  <a:cubicBezTo>
                    <a:pt x="912367" y="60121"/>
                    <a:pt x="925551" y="91950"/>
                    <a:pt x="925551" y="125139"/>
                  </a:cubicBezTo>
                  <a:lnTo>
                    <a:pt x="925551" y="125139"/>
                  </a:lnTo>
                  <a:cubicBezTo>
                    <a:pt x="925551" y="194252"/>
                    <a:pt x="869525" y="250278"/>
                    <a:pt x="800412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60B5E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925551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80546" y="7372245"/>
            <a:ext cx="335489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Definir el objetivo y la necesidad del usuario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09155" y="7372245"/>
            <a:ext cx="3354896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Diseñar la UI (qué inputs y outputs serán necesarios)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111312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159301" y="7372245"/>
            <a:ext cx="3472365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Preparar funciones en R para los cálculos principales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111312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191850" y="7372245"/>
            <a:ext cx="3240931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Integrar en Shiny: conectar UI ↔ lógica ↔ outputs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76979" y="6294154"/>
            <a:ext cx="140153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28956" y="6294154"/>
            <a:ext cx="220756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01785" y="6294154"/>
            <a:ext cx="318739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87792" y="6294154"/>
            <a:ext cx="253096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4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935769" y="6192546"/>
            <a:ext cx="2579735" cy="697586"/>
            <a:chOff x="0" y="0"/>
            <a:chExt cx="925551" cy="25027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25551" cy="250278"/>
            </a:xfrm>
            <a:custGeom>
              <a:avLst/>
              <a:gdLst/>
              <a:ahLst/>
              <a:cxnLst/>
              <a:rect l="l" t="t" r="r" b="b"/>
              <a:pathLst>
                <a:path w="925551" h="250278">
                  <a:moveTo>
                    <a:pt x="125139" y="0"/>
                  </a:moveTo>
                  <a:lnTo>
                    <a:pt x="800412" y="0"/>
                  </a:lnTo>
                  <a:cubicBezTo>
                    <a:pt x="833601" y="0"/>
                    <a:pt x="865431" y="13184"/>
                    <a:pt x="888899" y="36652"/>
                  </a:cubicBezTo>
                  <a:cubicBezTo>
                    <a:pt x="912367" y="60121"/>
                    <a:pt x="925551" y="91950"/>
                    <a:pt x="925551" y="125139"/>
                  </a:cubicBezTo>
                  <a:lnTo>
                    <a:pt x="925551" y="125139"/>
                  </a:lnTo>
                  <a:cubicBezTo>
                    <a:pt x="925551" y="194252"/>
                    <a:pt x="869525" y="250278"/>
                    <a:pt x="800412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60B5E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9050"/>
              <a:ext cx="925551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4763601" y="7372245"/>
            <a:ext cx="2751904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Probar e iterar: revisar tiempos, errores, usabilidad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60157" y="6335917"/>
            <a:ext cx="253096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11131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37785" y="653415"/>
            <a:ext cx="1975961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Objetivos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74913" y="633737"/>
            <a:ext cx="1660289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paquete Shiny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49880" y="529590"/>
            <a:ext cx="1788239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Estructura de app shiny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65103" y="633737"/>
            <a:ext cx="1773714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UI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561651" y="529590"/>
            <a:ext cx="158892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Componentes server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445852" y="509912"/>
            <a:ext cx="111331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 u="sng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Flujo de trabajo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856557" y="529590"/>
            <a:ext cx="183403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312"/>
                </a:solidFill>
                <a:latin typeface="Clear Sans"/>
                <a:ea typeface="Clear Sans"/>
                <a:cs typeface="Clear Sans"/>
                <a:sym typeface="Clear Sans"/>
              </a:rPr>
              <a:t>Recursos recomendados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32030" y="575635"/>
            <a:ext cx="2978471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69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 DAY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825232"/>
            <a:ext cx="15578858" cy="287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80"/>
              </a:lnSpc>
              <a:spcBef>
                <a:spcPct val="0"/>
              </a:spcBef>
            </a:pPr>
            <a:r>
              <a:rPr lang="en-US" sz="8200" spc="-24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App para análisis exploratorio: prototipo de software para toma de decisiones en producción animal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13934" y="488955"/>
            <a:ext cx="10894051" cy="9309091"/>
          </a:xfrm>
          <a:custGeom>
            <a:avLst/>
            <a:gdLst/>
            <a:ahLst/>
            <a:cxnLst/>
            <a:rect l="l" t="t" r="r" b="b"/>
            <a:pathLst>
              <a:path w="10894051" h="9309091">
                <a:moveTo>
                  <a:pt x="0" y="0"/>
                </a:moveTo>
                <a:lnTo>
                  <a:pt x="10894051" y="0"/>
                </a:lnTo>
                <a:lnTo>
                  <a:pt x="10894051" y="9309090"/>
                </a:lnTo>
                <a:lnTo>
                  <a:pt x="0" y="9309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694" r="-239638" b="-4656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513756" y="2640207"/>
            <a:ext cx="6026528" cy="100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80"/>
              </a:lnSpc>
              <a:spcBef>
                <a:spcPct val="0"/>
              </a:spcBef>
            </a:pPr>
            <a:r>
              <a:rPr lang="en-US" sz="8200" spc="-24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Visualización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65844" y="480873"/>
            <a:ext cx="8474040" cy="9607184"/>
          </a:xfrm>
          <a:custGeom>
            <a:avLst/>
            <a:gdLst/>
            <a:ahLst/>
            <a:cxnLst/>
            <a:rect l="l" t="t" r="r" b="b"/>
            <a:pathLst>
              <a:path w="8474040" h="9607184">
                <a:moveTo>
                  <a:pt x="0" y="0"/>
                </a:moveTo>
                <a:lnTo>
                  <a:pt x="8474039" y="0"/>
                </a:lnTo>
                <a:lnTo>
                  <a:pt x="8474039" y="9607184"/>
                </a:lnTo>
                <a:lnTo>
                  <a:pt x="0" y="960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641" r="-6432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1296472" y="2432548"/>
            <a:ext cx="6026528" cy="100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80"/>
              </a:lnSpc>
              <a:spcBef>
                <a:spcPct val="0"/>
              </a:spcBef>
            </a:pPr>
            <a:r>
              <a:rPr lang="en-US" sz="8200" spc="-24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Modelo lineal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213019"/>
            <a:ext cx="6653268" cy="9860963"/>
          </a:xfrm>
          <a:custGeom>
            <a:avLst/>
            <a:gdLst/>
            <a:ahLst/>
            <a:cxnLst/>
            <a:rect l="l" t="t" r="r" b="b"/>
            <a:pathLst>
              <a:path w="6653268" h="9860963">
                <a:moveTo>
                  <a:pt x="0" y="0"/>
                </a:moveTo>
                <a:lnTo>
                  <a:pt x="6653268" y="0"/>
                </a:lnTo>
                <a:lnTo>
                  <a:pt x="6653268" y="9860962"/>
                </a:lnTo>
                <a:lnTo>
                  <a:pt x="0" y="986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8800" t="-9268" b="-905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1599974" y="2336705"/>
            <a:ext cx="6026528" cy="19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80"/>
              </a:lnSpc>
              <a:spcBef>
                <a:spcPct val="0"/>
              </a:spcBef>
            </a:pPr>
            <a:r>
              <a:rPr lang="en-US" sz="8200" spc="-24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Modelo wood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0555" r="10555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462942" y="506799"/>
            <a:ext cx="4912820" cy="2268534"/>
            <a:chOff x="0" y="0"/>
            <a:chExt cx="3024077" cy="13963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24077" cy="1396392"/>
            </a:xfrm>
            <a:custGeom>
              <a:avLst/>
              <a:gdLst/>
              <a:ahLst/>
              <a:cxnLst/>
              <a:rect l="l" t="t" r="r" b="b"/>
              <a:pathLst>
                <a:path w="3024077" h="1396392">
                  <a:moveTo>
                    <a:pt x="47276" y="0"/>
                  </a:moveTo>
                  <a:lnTo>
                    <a:pt x="2976801" y="0"/>
                  </a:lnTo>
                  <a:cubicBezTo>
                    <a:pt x="2989340" y="0"/>
                    <a:pt x="3001364" y="4981"/>
                    <a:pt x="3010230" y="13847"/>
                  </a:cubicBezTo>
                  <a:cubicBezTo>
                    <a:pt x="3019096" y="22713"/>
                    <a:pt x="3024077" y="34737"/>
                    <a:pt x="3024077" y="47276"/>
                  </a:cubicBezTo>
                  <a:lnTo>
                    <a:pt x="3024077" y="1349116"/>
                  </a:lnTo>
                  <a:cubicBezTo>
                    <a:pt x="3024077" y="1361654"/>
                    <a:pt x="3019096" y="1373679"/>
                    <a:pt x="3010230" y="1382545"/>
                  </a:cubicBezTo>
                  <a:cubicBezTo>
                    <a:pt x="3001364" y="1391411"/>
                    <a:pt x="2989340" y="1396392"/>
                    <a:pt x="2976801" y="1396392"/>
                  </a:cubicBezTo>
                  <a:lnTo>
                    <a:pt x="47276" y="1396392"/>
                  </a:lnTo>
                  <a:cubicBezTo>
                    <a:pt x="34737" y="1396392"/>
                    <a:pt x="22713" y="1391411"/>
                    <a:pt x="13847" y="1382545"/>
                  </a:cubicBezTo>
                  <a:cubicBezTo>
                    <a:pt x="4981" y="1373679"/>
                    <a:pt x="0" y="1361654"/>
                    <a:pt x="0" y="1349116"/>
                  </a:cubicBezTo>
                  <a:lnTo>
                    <a:pt x="0" y="47276"/>
                  </a:lnTo>
                  <a:cubicBezTo>
                    <a:pt x="0" y="34737"/>
                    <a:pt x="4981" y="22713"/>
                    <a:pt x="13847" y="13847"/>
                  </a:cubicBezTo>
                  <a:cubicBezTo>
                    <a:pt x="22713" y="4981"/>
                    <a:pt x="34737" y="0"/>
                    <a:pt x="47276" y="0"/>
                  </a:cubicBezTo>
                  <a:close/>
                </a:path>
              </a:pathLst>
            </a:custGeom>
            <a:solidFill>
              <a:srgbClr val="82C2E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24077" cy="1434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2212" y="303502"/>
            <a:ext cx="3217654" cy="406594"/>
            <a:chOff x="0" y="0"/>
            <a:chExt cx="1980621" cy="2502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0621" cy="250278"/>
            </a:xfrm>
            <a:custGeom>
              <a:avLst/>
              <a:gdLst/>
              <a:ahLst/>
              <a:cxnLst/>
              <a:rect l="l" t="t" r="r" b="b"/>
              <a:pathLst>
                <a:path w="1980621" h="250278">
                  <a:moveTo>
                    <a:pt x="125139" y="0"/>
                  </a:moveTo>
                  <a:lnTo>
                    <a:pt x="1855482" y="0"/>
                  </a:lnTo>
                  <a:cubicBezTo>
                    <a:pt x="1924594" y="0"/>
                    <a:pt x="1980621" y="56027"/>
                    <a:pt x="1980621" y="125139"/>
                  </a:cubicBezTo>
                  <a:lnTo>
                    <a:pt x="1980621" y="125139"/>
                  </a:lnTo>
                  <a:cubicBezTo>
                    <a:pt x="1980621" y="158328"/>
                    <a:pt x="1967436" y="190158"/>
                    <a:pt x="1943968" y="213626"/>
                  </a:cubicBezTo>
                  <a:cubicBezTo>
                    <a:pt x="1920500" y="237094"/>
                    <a:pt x="1888670" y="250278"/>
                    <a:pt x="1855482" y="250278"/>
                  </a:cubicBezTo>
                  <a:lnTo>
                    <a:pt x="125139" y="250278"/>
                  </a:lnTo>
                  <a:cubicBezTo>
                    <a:pt x="91950" y="250278"/>
                    <a:pt x="60121" y="237094"/>
                    <a:pt x="36652" y="213626"/>
                  </a:cubicBezTo>
                  <a:cubicBezTo>
                    <a:pt x="13184" y="190158"/>
                    <a:pt x="0" y="158328"/>
                    <a:pt x="0" y="125139"/>
                  </a:cubicBezTo>
                  <a:lnTo>
                    <a:pt x="0" y="125139"/>
                  </a:lnTo>
                  <a:cubicBezTo>
                    <a:pt x="0" y="91950"/>
                    <a:pt x="13184" y="60121"/>
                    <a:pt x="36652" y="36652"/>
                  </a:cubicBezTo>
                  <a:cubicBezTo>
                    <a:pt x="60121" y="13184"/>
                    <a:pt x="91950" y="0"/>
                    <a:pt x="125139" y="0"/>
                  </a:cubicBezTo>
                  <a:close/>
                </a:path>
              </a:pathLst>
            </a:custGeom>
            <a:solidFill>
              <a:srgbClr val="E6F3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980621" cy="23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60451" y="303502"/>
            <a:ext cx="405855" cy="406594"/>
          </a:xfrm>
          <a:custGeom>
            <a:avLst/>
            <a:gdLst/>
            <a:ahLst/>
            <a:cxnLst/>
            <a:rect l="l" t="t" r="r" b="b"/>
            <a:pathLst>
              <a:path w="405855" h="406594">
                <a:moveTo>
                  <a:pt x="0" y="0"/>
                </a:moveTo>
                <a:lnTo>
                  <a:pt x="405855" y="0"/>
                </a:lnTo>
                <a:lnTo>
                  <a:pt x="405855" y="406594"/>
                </a:lnTo>
                <a:lnTo>
                  <a:pt x="0" y="406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859414" y="426097"/>
            <a:ext cx="207928" cy="161404"/>
          </a:xfrm>
          <a:custGeom>
            <a:avLst/>
            <a:gdLst/>
            <a:ahLst/>
            <a:cxnLst/>
            <a:rect l="l" t="t" r="r" b="b"/>
            <a:pathLst>
              <a:path w="207928" h="161404">
                <a:moveTo>
                  <a:pt x="0" y="0"/>
                </a:moveTo>
                <a:lnTo>
                  <a:pt x="207928" y="0"/>
                </a:lnTo>
                <a:lnTo>
                  <a:pt x="207928" y="161404"/>
                </a:lnTo>
                <a:lnTo>
                  <a:pt x="0" y="161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859414" y="1019955"/>
            <a:ext cx="4800096" cy="122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</a:pPr>
            <a:r>
              <a:rPr lang="en-US" sz="5134" spc="-154">
                <a:solidFill>
                  <a:srgbClr val="11131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</a:t>
            </a:r>
            <a:r>
              <a:rPr lang="en-US" sz="5134" u="none" strike="noStrike" spc="-154">
                <a:solidFill>
                  <a:srgbClr val="11131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ecursos recomendados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5916" y="365887"/>
            <a:ext cx="2990244" cy="24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6"/>
              </a:lnSpc>
              <a:spcBef>
                <a:spcPct val="0"/>
              </a:spcBef>
            </a:pPr>
            <a:r>
              <a:rPr lang="en-US" sz="1369" b="1">
                <a:solidFill>
                  <a:srgbClr val="11131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APP SHINY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5511" y="3003933"/>
            <a:ext cx="5191577" cy="43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u="sng">
                <a:solidFill>
                  <a:srgbClr val="111312"/>
                </a:solidFill>
                <a:latin typeface="Arimo"/>
                <a:ea typeface="Arimo"/>
                <a:cs typeface="Arimo"/>
                <a:sym typeface="Arimo"/>
                <a:hlinkClick r:id="rId7" tooltip="https://rstudio.github.io/shinyuieditor/"/>
              </a:rPr>
              <a:t>https://rstudio.github.io/shinyuieditor/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Personalizado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Arimo</vt:lpstr>
      <vt:lpstr>Arial</vt:lpstr>
      <vt:lpstr>Clear Sans Bold</vt:lpstr>
      <vt:lpstr>Cooper BT Light Italics</vt:lpstr>
      <vt:lpstr>Calibri</vt:lpstr>
      <vt:lpstr>Clear Sans</vt:lpstr>
      <vt:lpstr>Clear Sans Medium</vt:lpstr>
      <vt:lpstr>Cooper BT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day 2025</dc:title>
  <cp:lastModifiedBy>luis cohen</cp:lastModifiedBy>
  <cp:revision>1</cp:revision>
  <dcterms:created xsi:type="dcterms:W3CDTF">2006-08-16T00:00:00Z</dcterms:created>
  <dcterms:modified xsi:type="dcterms:W3CDTF">2025-11-14T00:24:57Z</dcterms:modified>
  <dc:identifier>DAG4l5kavJo</dc:identifier>
</cp:coreProperties>
</file>